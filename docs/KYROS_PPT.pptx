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8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A5200"/>
    <a:srgbClr val="FFE8CC"/>
    <a:srgbClr val="FAD2F4"/>
    <a:srgbClr val="FFF0C2"/>
    <a:srgbClr val="FFE4A3"/>
    <a:srgbClr val="9BBB59"/>
    <a:srgbClr val="F0613A"/>
    <a:srgbClr val="39B0D4"/>
    <a:srgbClr val="727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BCD98-395C-48AD-B449-773FBF48491F}" v="192" dt="2026-09-04T17:04:06.307"/>
    <p1510:client id="{91CF0B14-3A5C-4C7E-80DB-BFA23A12FB4D}" v="30" dt="2026-09-04T17:23:38.6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ACD2E-2A9F-2732-F31E-49D69F1B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A92AAD58-FBDB-8799-3183-886C8D448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0FD674FD-2375-D878-ACEF-7841E53153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1E192DD-5401-0199-BFC7-FE012C810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855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wpLDggCpc1S01gH2TWtFmOAeVoaPzIw3/view?usp=drivesdk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hyperlink" Target="https://qr.generatorqr.com/8oPThIcj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estinglab.com/iso-8124-1-drop-and-impact-safety-testing" TargetMode="External"/><Relationship Id="rId5" Type="http://schemas.openxmlformats.org/officeDocument/2006/relationships/hyperlink" Target="https://testbook.com/question-answer/what-is-the-role-of-parental-consent-under-the-dpd--69d4b429786d4e0201016aab" TargetMode="External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76433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8726" y="1225850"/>
            <a:ext cx="8522845" cy="5425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Calibri"/>
                <a:ea typeface="ＭＳ Ｐゴシック"/>
                <a:cs typeface="Calibri"/>
              </a:rPr>
              <a:t>    </a:t>
            </a:r>
            <a:endParaRPr lang="en-US" dirty="0">
              <a:latin typeface="Calibri"/>
              <a:ea typeface="ＭＳ Ｐゴシック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ID – </a:t>
            </a:r>
            <a:r>
              <a:rPr lang="en-US" sz="2400" b="1" dirty="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SIH26225</a:t>
            </a:r>
            <a:endParaRPr lang="en-US" sz="2400" b="1">
              <a:latin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 -</a:t>
            </a:r>
            <a:endParaRPr lang="en-US" sz="2400" b="1" dirty="0">
              <a:latin typeface="Calibri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Theme- </a:t>
            </a:r>
            <a:r>
              <a:rPr lang="en-US" sz="2400" dirty="0">
                <a:latin typeface="Arial"/>
                <a:ea typeface="ＭＳ Ｐゴシック"/>
                <a:cs typeface="Arial"/>
              </a:rPr>
              <a:t>Toys &amp; Games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400" dirty="0">
                <a:latin typeface="Arial"/>
                <a:ea typeface="ＭＳ Ｐゴシック"/>
                <a:cs typeface="Arial"/>
              </a:rPr>
              <a:t>Hardware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ID- […......]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Name (Registered on portal) - Heisen-De-bug 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F8E6A4-2485-16A2-9DE4-ED75AD024E35}"/>
              </a:ext>
            </a:extLst>
          </p:cNvPr>
          <p:cNvSpPr txBox="1"/>
          <p:nvPr/>
        </p:nvSpPr>
        <p:spPr>
          <a:xfrm>
            <a:off x="445175" y="2824910"/>
            <a:ext cx="9197420" cy="1200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Student Innovation-Challenge </a:t>
            </a:r>
            <a:r>
              <a:rPr lang="en-US" sz="2400" dirty="0">
                <a:solidFill>
                  <a:schemeClr val="tx1"/>
                </a:solidFill>
                <a:highlight>
                  <a:srgbClr val="FFFFFF"/>
                </a:highlight>
              </a:rPr>
              <a:t>your creative mind to conceptualize and develop unique toys and games based on our civilization, history, and culture etc.</a:t>
            </a:r>
            <a:endParaRPr lang="en-US" sz="2400">
              <a:solidFill>
                <a:schemeClr val="tx1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E99DCA4-60FF-D6C8-FD6B-22E0CB4BED8C}"/>
              </a:ext>
            </a:extLst>
          </p:cNvPr>
          <p:cNvSpPr txBox="1"/>
          <p:nvPr/>
        </p:nvSpPr>
        <p:spPr>
          <a:xfrm>
            <a:off x="9798947" y="1318220"/>
            <a:ext cx="1195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Bodoni MT Black" panose="02070A03080606020203" pitchFamily="18" charset="0"/>
              </a:rPr>
              <a:t>LEARN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9EF72F-E497-88F1-E501-A966095A38BC}"/>
              </a:ext>
            </a:extLst>
          </p:cNvPr>
          <p:cNvSpPr txBox="1"/>
          <p:nvPr/>
        </p:nvSpPr>
        <p:spPr>
          <a:xfrm>
            <a:off x="8635999" y="1344960"/>
            <a:ext cx="97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Bodoni MT Black" panose="02070A03080606020203" pitchFamily="18" charset="0"/>
              </a:rPr>
              <a:t>PLAY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F3DF82-22EE-860C-106A-542D21AB4AF4}"/>
              </a:ext>
            </a:extLst>
          </p:cNvPr>
          <p:cNvSpPr txBox="1"/>
          <p:nvPr/>
        </p:nvSpPr>
        <p:spPr>
          <a:xfrm>
            <a:off x="11155798" y="135933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Bodoni MT Black" panose="02070A03080606020203" pitchFamily="18" charset="0"/>
              </a:rPr>
              <a:t>SAFE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132F281-223E-5073-073C-27EFD7F4D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825" y="1058431"/>
            <a:ext cx="5388615" cy="53005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87441440-BA69-170C-8E10-45F33C33EE32}"/>
              </a:ext>
            </a:extLst>
          </p:cNvPr>
          <p:cNvSpPr txBox="1">
            <a:spLocks noGrp="1"/>
          </p:cNvSpPr>
          <p:nvPr/>
        </p:nvSpPr>
        <p:spPr>
          <a:xfrm>
            <a:off x="3577971" y="310515"/>
            <a:ext cx="537718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Kyros</a:t>
            </a:r>
            <a:r>
              <a:rPr spc="-105" dirty="0"/>
              <a:t> </a:t>
            </a:r>
            <a:r>
              <a:rPr dirty="0"/>
              <a:t>–</a:t>
            </a:r>
            <a:r>
              <a:rPr spc="-225" dirty="0"/>
              <a:t> </a:t>
            </a:r>
            <a:r>
              <a:rPr dirty="0"/>
              <a:t>AI</a:t>
            </a:r>
            <a:r>
              <a:rPr spc="-185" dirty="0"/>
              <a:t> </a:t>
            </a:r>
            <a:r>
              <a:rPr spc="-45" dirty="0"/>
              <a:t>Toy</a:t>
            </a:r>
            <a:r>
              <a:rPr spc="-55" dirty="0"/>
              <a:t> </a:t>
            </a:r>
            <a:r>
              <a:rPr spc="-10" dirty="0"/>
              <a:t>Companion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7C32ED2-843C-6EF8-3A92-3B0B7738A303}"/>
              </a:ext>
            </a:extLst>
          </p:cNvPr>
          <p:cNvSpPr/>
          <p:nvPr/>
        </p:nvSpPr>
        <p:spPr>
          <a:xfrm>
            <a:off x="100012" y="223900"/>
            <a:ext cx="2229485" cy="819150"/>
          </a:xfrm>
          <a:custGeom>
            <a:avLst/>
            <a:gdLst/>
            <a:ahLst/>
            <a:cxnLst/>
            <a:rect l="l" t="t" r="r" b="b"/>
            <a:pathLst>
              <a:path w="2229485" h="819150">
                <a:moveTo>
                  <a:pt x="0" y="409575"/>
                </a:moveTo>
                <a:lnTo>
                  <a:pt x="8057" y="360048"/>
                </a:lnTo>
                <a:lnTo>
                  <a:pt x="31608" y="312281"/>
                </a:lnTo>
                <a:lnTo>
                  <a:pt x="69721" y="266615"/>
                </a:lnTo>
                <a:lnTo>
                  <a:pt x="121462" y="223393"/>
                </a:lnTo>
                <a:lnTo>
                  <a:pt x="185898" y="182955"/>
                </a:lnTo>
                <a:lnTo>
                  <a:pt x="222586" y="163888"/>
                </a:lnTo>
                <a:lnTo>
                  <a:pt x="262098" y="145644"/>
                </a:lnTo>
                <a:lnTo>
                  <a:pt x="304318" y="128269"/>
                </a:lnTo>
                <a:lnTo>
                  <a:pt x="349129" y="111803"/>
                </a:lnTo>
                <a:lnTo>
                  <a:pt x="396415" y="96290"/>
                </a:lnTo>
                <a:lnTo>
                  <a:pt x="446058" y="81772"/>
                </a:lnTo>
                <a:lnTo>
                  <a:pt x="497943" y="68292"/>
                </a:lnTo>
                <a:lnTo>
                  <a:pt x="551953" y="55894"/>
                </a:lnTo>
                <a:lnTo>
                  <a:pt x="607971" y="44619"/>
                </a:lnTo>
                <a:lnTo>
                  <a:pt x="665881" y="34510"/>
                </a:lnTo>
                <a:lnTo>
                  <a:pt x="725565" y="25611"/>
                </a:lnTo>
                <a:lnTo>
                  <a:pt x="786909" y="17963"/>
                </a:lnTo>
                <a:lnTo>
                  <a:pt x="849794" y="11610"/>
                </a:lnTo>
                <a:lnTo>
                  <a:pt x="914105" y="6595"/>
                </a:lnTo>
                <a:lnTo>
                  <a:pt x="979725" y="2959"/>
                </a:lnTo>
                <a:lnTo>
                  <a:pt x="1046537" y="747"/>
                </a:lnTo>
                <a:lnTo>
                  <a:pt x="1114425" y="0"/>
                </a:lnTo>
                <a:lnTo>
                  <a:pt x="1182315" y="747"/>
                </a:lnTo>
                <a:lnTo>
                  <a:pt x="1249130" y="2959"/>
                </a:lnTo>
                <a:lnTo>
                  <a:pt x="1314753" y="6595"/>
                </a:lnTo>
                <a:lnTo>
                  <a:pt x="1379067" y="11610"/>
                </a:lnTo>
                <a:lnTo>
                  <a:pt x="1441955" y="17963"/>
                </a:lnTo>
                <a:lnTo>
                  <a:pt x="1503302" y="25611"/>
                </a:lnTo>
                <a:lnTo>
                  <a:pt x="1562990" y="34510"/>
                </a:lnTo>
                <a:lnTo>
                  <a:pt x="1620903" y="44619"/>
                </a:lnTo>
                <a:lnTo>
                  <a:pt x="1676924" y="55894"/>
                </a:lnTo>
                <a:lnTo>
                  <a:pt x="1730937" y="68292"/>
                </a:lnTo>
                <a:lnTo>
                  <a:pt x="1782825" y="81772"/>
                </a:lnTo>
                <a:lnTo>
                  <a:pt x="1832471" y="96290"/>
                </a:lnTo>
                <a:lnTo>
                  <a:pt x="1879760" y="111803"/>
                </a:lnTo>
                <a:lnTo>
                  <a:pt x="1924574" y="128269"/>
                </a:lnTo>
                <a:lnTo>
                  <a:pt x="1966796" y="145644"/>
                </a:lnTo>
                <a:lnTo>
                  <a:pt x="2006311" y="163888"/>
                </a:lnTo>
                <a:lnTo>
                  <a:pt x="2043001" y="182955"/>
                </a:lnTo>
                <a:lnTo>
                  <a:pt x="2076751" y="202804"/>
                </a:lnTo>
                <a:lnTo>
                  <a:pt x="2134960" y="244677"/>
                </a:lnTo>
                <a:lnTo>
                  <a:pt x="2180006" y="289164"/>
                </a:lnTo>
                <a:lnTo>
                  <a:pt x="2210957" y="335923"/>
                </a:lnTo>
                <a:lnTo>
                  <a:pt x="2226879" y="384613"/>
                </a:lnTo>
                <a:lnTo>
                  <a:pt x="2228913" y="409575"/>
                </a:lnTo>
                <a:lnTo>
                  <a:pt x="2226879" y="434523"/>
                </a:lnTo>
                <a:lnTo>
                  <a:pt x="2210957" y="483192"/>
                </a:lnTo>
                <a:lnTo>
                  <a:pt x="2180006" y="529938"/>
                </a:lnTo>
                <a:lnTo>
                  <a:pt x="2134960" y="574418"/>
                </a:lnTo>
                <a:lnTo>
                  <a:pt x="2076751" y="616288"/>
                </a:lnTo>
                <a:lnTo>
                  <a:pt x="2043001" y="636138"/>
                </a:lnTo>
                <a:lnTo>
                  <a:pt x="2006311" y="655207"/>
                </a:lnTo>
                <a:lnTo>
                  <a:pt x="1966796" y="673452"/>
                </a:lnTo>
                <a:lnTo>
                  <a:pt x="1924574" y="690831"/>
                </a:lnTo>
                <a:lnTo>
                  <a:pt x="1879760" y="707300"/>
                </a:lnTo>
                <a:lnTo>
                  <a:pt x="1832471" y="722818"/>
                </a:lnTo>
                <a:lnTo>
                  <a:pt x="1782825" y="737340"/>
                </a:lnTo>
                <a:lnTo>
                  <a:pt x="1730937" y="750824"/>
                </a:lnTo>
                <a:lnTo>
                  <a:pt x="1676924" y="763227"/>
                </a:lnTo>
                <a:lnTo>
                  <a:pt x="1620903" y="774507"/>
                </a:lnTo>
                <a:lnTo>
                  <a:pt x="1562990" y="784620"/>
                </a:lnTo>
                <a:lnTo>
                  <a:pt x="1503302" y="793524"/>
                </a:lnTo>
                <a:lnTo>
                  <a:pt x="1441955" y="801175"/>
                </a:lnTo>
                <a:lnTo>
                  <a:pt x="1379067" y="807532"/>
                </a:lnTo>
                <a:lnTo>
                  <a:pt x="1314753" y="812550"/>
                </a:lnTo>
                <a:lnTo>
                  <a:pt x="1249130" y="816188"/>
                </a:lnTo>
                <a:lnTo>
                  <a:pt x="1182315" y="818402"/>
                </a:lnTo>
                <a:lnTo>
                  <a:pt x="1114425" y="819150"/>
                </a:lnTo>
                <a:lnTo>
                  <a:pt x="1046537" y="818402"/>
                </a:lnTo>
                <a:lnTo>
                  <a:pt x="979725" y="816188"/>
                </a:lnTo>
                <a:lnTo>
                  <a:pt x="914105" y="812550"/>
                </a:lnTo>
                <a:lnTo>
                  <a:pt x="849794" y="807532"/>
                </a:lnTo>
                <a:lnTo>
                  <a:pt x="786909" y="801175"/>
                </a:lnTo>
                <a:lnTo>
                  <a:pt x="725565" y="793524"/>
                </a:lnTo>
                <a:lnTo>
                  <a:pt x="665881" y="784620"/>
                </a:lnTo>
                <a:lnTo>
                  <a:pt x="607971" y="774507"/>
                </a:lnTo>
                <a:lnTo>
                  <a:pt x="551953" y="763227"/>
                </a:lnTo>
                <a:lnTo>
                  <a:pt x="497943" y="750824"/>
                </a:lnTo>
                <a:lnTo>
                  <a:pt x="446058" y="737340"/>
                </a:lnTo>
                <a:lnTo>
                  <a:pt x="396415" y="722818"/>
                </a:lnTo>
                <a:lnTo>
                  <a:pt x="349129" y="707300"/>
                </a:lnTo>
                <a:lnTo>
                  <a:pt x="304318" y="690831"/>
                </a:lnTo>
                <a:lnTo>
                  <a:pt x="262098" y="673452"/>
                </a:lnTo>
                <a:lnTo>
                  <a:pt x="222586" y="655207"/>
                </a:lnTo>
                <a:lnTo>
                  <a:pt x="185898" y="636138"/>
                </a:lnTo>
                <a:lnTo>
                  <a:pt x="152151" y="616288"/>
                </a:lnTo>
                <a:lnTo>
                  <a:pt x="93946" y="574418"/>
                </a:lnTo>
                <a:lnTo>
                  <a:pt x="48903" y="529938"/>
                </a:lnTo>
                <a:lnTo>
                  <a:pt x="17954" y="483192"/>
                </a:lnTo>
                <a:lnTo>
                  <a:pt x="2033" y="434523"/>
                </a:lnTo>
                <a:lnTo>
                  <a:pt x="0" y="409575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C4D12226-3E70-4165-8B4F-AE1E85D68504}"/>
              </a:ext>
            </a:extLst>
          </p:cNvPr>
          <p:cNvSpPr txBox="1"/>
          <p:nvPr/>
        </p:nvSpPr>
        <p:spPr>
          <a:xfrm>
            <a:off x="506730" y="462216"/>
            <a:ext cx="141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Heisen-De-</a:t>
            </a:r>
            <a:r>
              <a:rPr sz="1800" spc="-25" dirty="0">
                <a:latin typeface="Calibri"/>
                <a:cs typeface="Calibri"/>
              </a:rPr>
              <a:t>Bug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8">
            <a:extLst>
              <a:ext uri="{FF2B5EF4-FFF2-40B4-BE49-F238E27FC236}">
                <a16:creationId xmlns:a16="http://schemas.microsoft.com/office/drawing/2014/main" id="{D26385AF-4478-A7A7-A4F6-F863F6EC68C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3650" y="19050"/>
            <a:ext cx="1333500" cy="1152525"/>
          </a:xfrm>
          <a:prstGeom prst="rect">
            <a:avLst/>
          </a:prstGeom>
        </p:spPr>
      </p:pic>
      <p:sp>
        <p:nvSpPr>
          <p:cNvPr id="15" name="object 6">
            <a:extLst>
              <a:ext uri="{FF2B5EF4-FFF2-40B4-BE49-F238E27FC236}">
                <a16:creationId xmlns:a16="http://schemas.microsoft.com/office/drawing/2014/main" id="{A1DF5A4C-56D5-3BFC-3E97-3367957BF2FE}"/>
              </a:ext>
            </a:extLst>
          </p:cNvPr>
          <p:cNvSpPr txBox="1"/>
          <p:nvPr/>
        </p:nvSpPr>
        <p:spPr>
          <a:xfrm>
            <a:off x="63817" y="1016796"/>
            <a:ext cx="6737984" cy="517906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>
            <a:defPPr>
              <a:defRPr kern="0"/>
            </a:defPPr>
          </a:lstStyle>
          <a:p>
            <a:pPr marL="321310" indent="-308610">
              <a:lnSpc>
                <a:spcPct val="100000"/>
              </a:lnSpc>
              <a:spcBef>
                <a:spcPts val="1055"/>
              </a:spcBef>
              <a:buFont typeface="MS PGothic"/>
              <a:buChar char="❖"/>
              <a:tabLst>
                <a:tab pos="321310" algn="l"/>
              </a:tabLst>
            </a:pPr>
            <a:r>
              <a:rPr sz="2000" b="1" dirty="0">
                <a:solidFill>
                  <a:srgbClr val="4F81BC"/>
                </a:solidFill>
                <a:latin typeface="Palatino Linotype"/>
                <a:cs typeface="Palatino Linotype"/>
              </a:rPr>
              <a:t>Proposed</a:t>
            </a:r>
            <a:r>
              <a:rPr sz="2000" b="1" spc="-35" dirty="0">
                <a:solidFill>
                  <a:srgbClr val="4F81BC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4F81BC"/>
                </a:solidFill>
                <a:latin typeface="Palatino Linotype"/>
                <a:cs typeface="Palatino Linotype"/>
              </a:rPr>
              <a:t>Solution</a:t>
            </a:r>
            <a:endParaRPr sz="2000">
              <a:latin typeface="Palatino Linotype"/>
              <a:cs typeface="Palatino Linotype"/>
            </a:endParaRPr>
          </a:p>
          <a:p>
            <a:pPr marL="316230" marR="5080" indent="-284480" algn="just">
              <a:lnSpc>
                <a:spcPct val="102699"/>
              </a:lnSpc>
              <a:spcBef>
                <a:spcPts val="640"/>
              </a:spcBef>
              <a:buFont typeface="Arial MT"/>
              <a:buChar char="•"/>
              <a:tabLst>
                <a:tab pos="317500" algn="l"/>
              </a:tabLst>
            </a:pPr>
            <a:r>
              <a:rPr sz="1400" b="1" dirty="0">
                <a:latin typeface="Calibri"/>
                <a:cs typeface="Calibri"/>
              </a:rPr>
              <a:t>Screen-Free</a:t>
            </a:r>
            <a:r>
              <a:rPr sz="1400" b="1" spc="3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Physical</a:t>
            </a:r>
            <a:r>
              <a:rPr sz="1400" b="1" spc="3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Companion:</a:t>
            </a:r>
            <a:r>
              <a:rPr sz="1400" b="1" spc="3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3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interactive</a:t>
            </a:r>
            <a:r>
              <a:rPr sz="1400" spc="3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smart</a:t>
            </a:r>
            <a:r>
              <a:rPr sz="1400" spc="3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toy</a:t>
            </a:r>
            <a:r>
              <a:rPr sz="1400" spc="3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powered</a:t>
            </a:r>
            <a:r>
              <a:rPr sz="1400" spc="2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3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embedded 	</a:t>
            </a:r>
            <a:r>
              <a:rPr sz="1400" dirty="0">
                <a:latin typeface="Calibri"/>
                <a:cs typeface="Calibri"/>
              </a:rPr>
              <a:t>hardware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(ESP32/Raspberry</a:t>
            </a:r>
            <a:r>
              <a:rPr sz="1400" spc="25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Pi)</a:t>
            </a:r>
            <a:r>
              <a:rPr sz="1400" spc="1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designed</a:t>
            </a:r>
            <a:r>
              <a:rPr sz="1400" spc="2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engage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children</a:t>
            </a:r>
            <a:r>
              <a:rPr sz="1400" spc="1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229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working</a:t>
            </a:r>
            <a:r>
              <a:rPr sz="1400" spc="229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parents</a:t>
            </a:r>
            <a:r>
              <a:rPr sz="1400" spc="2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	</a:t>
            </a:r>
            <a:r>
              <a:rPr sz="1400" dirty="0">
                <a:latin typeface="Calibri"/>
                <a:cs typeface="Calibri"/>
              </a:rPr>
              <a:t>eliminate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screen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addiction.</a:t>
            </a:r>
            <a:endParaRPr sz="1400">
              <a:latin typeface="Calibri"/>
              <a:cs typeface="Calibri"/>
            </a:endParaRPr>
          </a:p>
          <a:p>
            <a:pPr marL="320675" algn="just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link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idea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prototype: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Click</a:t>
            </a:r>
            <a:r>
              <a:rPr sz="1400" b="1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Here!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Calibri"/>
              <a:cs typeface="Calibri"/>
            </a:endParaRPr>
          </a:p>
          <a:p>
            <a:pPr marL="315595" marR="7620" indent="-283845" algn="just">
              <a:lnSpc>
                <a:spcPct val="102800"/>
              </a:lnSpc>
              <a:buFont typeface="Arial MT"/>
              <a:buChar char="•"/>
              <a:tabLst>
                <a:tab pos="317500" algn="l"/>
              </a:tabLst>
            </a:pPr>
            <a:r>
              <a:rPr sz="1400" b="1" dirty="0">
                <a:latin typeface="Calibri"/>
                <a:cs typeface="Calibri"/>
              </a:rPr>
              <a:t>Gamified</a:t>
            </a:r>
            <a:r>
              <a:rPr sz="1400" b="1" spc="3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Cultural</a:t>
            </a:r>
            <a:r>
              <a:rPr sz="1400" b="1" spc="3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</a:t>
            </a:r>
            <a:r>
              <a:rPr sz="1400" b="1" spc="3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(28</a:t>
            </a:r>
            <a:r>
              <a:rPr sz="1400" b="1" spc="3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States):</a:t>
            </a:r>
            <a:r>
              <a:rPr sz="1400" b="1" spc="3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Features</a:t>
            </a:r>
            <a:r>
              <a:rPr sz="1400" spc="3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3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state-by-state</a:t>
            </a:r>
            <a:r>
              <a:rPr sz="1400" spc="3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progression</a:t>
            </a:r>
            <a:r>
              <a:rPr sz="1400" spc="32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map 	</a:t>
            </a:r>
            <a:r>
              <a:rPr sz="1400" dirty="0">
                <a:latin typeface="Calibri"/>
                <a:cs typeface="Calibri"/>
              </a:rPr>
              <a:t>teaching</a:t>
            </a:r>
            <a:r>
              <a:rPr sz="1400" spc="27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regional</a:t>
            </a:r>
            <a:r>
              <a:rPr sz="1400" spc="27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heritage,</a:t>
            </a:r>
            <a:r>
              <a:rPr sz="1400" spc="26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traditional</a:t>
            </a:r>
            <a:r>
              <a:rPr sz="1400" spc="26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dance</a:t>
            </a:r>
            <a:r>
              <a:rPr sz="1400" spc="25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rhythms</a:t>
            </a:r>
            <a:r>
              <a:rPr sz="1400" spc="240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(Bharatnatyam),</a:t>
            </a:r>
            <a:r>
              <a:rPr sz="1400" spc="440" dirty="0">
                <a:latin typeface="Calibri"/>
                <a:cs typeface="Calibri"/>
              </a:rPr>
              <a:t>   </a:t>
            </a:r>
            <a:r>
              <a:rPr sz="1400" spc="-10" dirty="0">
                <a:latin typeface="Calibri"/>
                <a:cs typeface="Calibri"/>
              </a:rPr>
              <a:t>local 	</a:t>
            </a:r>
            <a:r>
              <a:rPr sz="1400" dirty="0">
                <a:latin typeface="Calibri"/>
                <a:cs typeface="Calibri"/>
              </a:rPr>
              <a:t>greetings,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festival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riddles.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15595" marR="8890" indent="-283845" algn="just">
              <a:lnSpc>
                <a:spcPct val="102800"/>
              </a:lnSpc>
              <a:spcBef>
                <a:spcPts val="5"/>
              </a:spcBef>
              <a:buFont typeface="Arial MT"/>
              <a:buChar char="•"/>
              <a:tabLst>
                <a:tab pos="317500" algn="l"/>
              </a:tabLst>
            </a:pPr>
            <a:r>
              <a:rPr sz="1400" b="1" dirty="0">
                <a:latin typeface="Calibri"/>
                <a:cs typeface="Calibri"/>
              </a:rPr>
              <a:t>Bedtime</a:t>
            </a:r>
            <a:r>
              <a:rPr sz="1400" b="1" spc="1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Tales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&amp;</a:t>
            </a:r>
            <a:r>
              <a:rPr sz="1400" b="1" spc="1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Indian</a:t>
            </a:r>
            <a:r>
              <a:rPr sz="1400" b="1" spc="1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Mythology:</a:t>
            </a:r>
            <a:r>
              <a:rPr sz="1400" b="1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Audio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storytelling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module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delivering</a:t>
            </a:r>
            <a:r>
              <a:rPr sz="1400" spc="1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rich</a:t>
            </a:r>
            <a:r>
              <a:rPr sz="1400" spc="1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cultural 	</a:t>
            </a:r>
            <a:r>
              <a:rPr sz="1400" dirty="0">
                <a:latin typeface="Calibri"/>
                <a:cs typeface="Calibri"/>
              </a:rPr>
              <a:t>narratives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(Mahabharat,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Panchatantra)</a:t>
            </a:r>
            <a:r>
              <a:rPr sz="1400" spc="1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bridge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generational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disconnect.</a:t>
            </a:r>
            <a:endParaRPr sz="1400">
              <a:latin typeface="Calibri"/>
              <a:cs typeface="Calibri"/>
            </a:endParaRPr>
          </a:p>
          <a:p>
            <a:pPr marL="315595" marR="11430" indent="-283845" algn="just">
              <a:lnSpc>
                <a:spcPct val="107300"/>
              </a:lnSpc>
              <a:spcBef>
                <a:spcPts val="1650"/>
              </a:spcBef>
              <a:buFont typeface="Arial MT"/>
              <a:buChar char="•"/>
              <a:tabLst>
                <a:tab pos="317500" algn="l"/>
              </a:tabLst>
            </a:pPr>
            <a:r>
              <a:rPr sz="1400" b="1" dirty="0">
                <a:latin typeface="Calibri"/>
                <a:cs typeface="Calibri"/>
              </a:rPr>
              <a:t>Multilingual</a:t>
            </a:r>
            <a:r>
              <a:rPr sz="1400" b="1" spc="4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Audio</a:t>
            </a:r>
            <a:r>
              <a:rPr sz="1400" b="1" spc="4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Engine:</a:t>
            </a:r>
            <a:r>
              <a:rPr sz="1400" b="1" spc="4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Integrated</a:t>
            </a:r>
            <a:r>
              <a:rPr sz="1400" spc="95" dirty="0">
                <a:latin typeface="Calibri"/>
                <a:cs typeface="Calibri"/>
              </a:rPr>
              <a:t>  </a:t>
            </a:r>
            <a:r>
              <a:rPr sz="1400" dirty="0">
                <a:latin typeface="Calibri"/>
                <a:cs typeface="Calibri"/>
              </a:rPr>
              <a:t>Speech-to-Text</a:t>
            </a:r>
            <a:r>
              <a:rPr sz="1400" spc="4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42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Text-</a:t>
            </a:r>
            <a:r>
              <a:rPr sz="1400" dirty="0">
                <a:latin typeface="Calibri"/>
                <a:cs typeface="Calibri"/>
              </a:rPr>
              <a:t>to-Speech</a:t>
            </a:r>
            <a:r>
              <a:rPr sz="1400" spc="4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engines 	</a:t>
            </a:r>
            <a:r>
              <a:rPr sz="1400" dirty="0">
                <a:latin typeface="Calibri"/>
                <a:cs typeface="Calibri"/>
              </a:rPr>
              <a:t>enabling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interactive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voice</a:t>
            </a:r>
            <a:r>
              <a:rPr sz="1400" spc="1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conversations</a:t>
            </a:r>
            <a:r>
              <a:rPr sz="1400" spc="1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multiple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Indian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regional</a:t>
            </a:r>
            <a:r>
              <a:rPr sz="1400" spc="1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languages.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15595" marR="11430" indent="-283845" algn="just">
              <a:lnSpc>
                <a:spcPct val="102899"/>
              </a:lnSpc>
              <a:buFont typeface="Arial MT"/>
              <a:buChar char="•"/>
              <a:tabLst>
                <a:tab pos="317500" algn="l"/>
              </a:tabLst>
            </a:pPr>
            <a:r>
              <a:rPr sz="1400" b="1" dirty="0">
                <a:latin typeface="Calibri"/>
                <a:cs typeface="Calibri"/>
              </a:rPr>
              <a:t>Parental</a:t>
            </a:r>
            <a:r>
              <a:rPr sz="1400" b="1" spc="1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Monitoring</a:t>
            </a:r>
            <a:r>
              <a:rPr sz="1400" b="1" spc="2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Dashboard:</a:t>
            </a:r>
            <a:r>
              <a:rPr sz="1400" b="1" spc="2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Dedicated</a:t>
            </a:r>
            <a:r>
              <a:rPr sz="1400" spc="2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mobile</a:t>
            </a:r>
            <a:r>
              <a:rPr sz="1400" spc="20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</a:t>
            </a:r>
            <a:r>
              <a:rPr sz="1400" spc="1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1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working</a:t>
            </a:r>
            <a:r>
              <a:rPr sz="1400" spc="2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parents</a:t>
            </a:r>
            <a:r>
              <a:rPr sz="1400" spc="2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2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track 	</a:t>
            </a:r>
            <a:r>
              <a:rPr sz="1400" dirty="0">
                <a:latin typeface="Calibri"/>
                <a:cs typeface="Calibri"/>
              </a:rPr>
              <a:t>engagement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levels,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set</a:t>
            </a:r>
            <a:r>
              <a:rPr sz="1400" spc="8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usage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limits,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send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remote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voice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notes.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15595" marR="5080" indent="-283845" algn="just">
              <a:lnSpc>
                <a:spcPct val="102800"/>
              </a:lnSpc>
              <a:buFont typeface="Arial MT"/>
              <a:buChar char="•"/>
              <a:tabLst>
                <a:tab pos="317500" algn="l"/>
              </a:tabLst>
            </a:pPr>
            <a:r>
              <a:rPr sz="1400" b="1" dirty="0">
                <a:latin typeface="Calibri"/>
                <a:cs typeface="Calibri"/>
              </a:rPr>
              <a:t>Innovation</a:t>
            </a:r>
            <a:r>
              <a:rPr sz="1400" b="1" spc="9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1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Uniqueness: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physical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toy</a:t>
            </a:r>
            <a:r>
              <a:rPr sz="1400" spc="1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speaks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Indian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regional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languages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	</a:t>
            </a:r>
            <a:r>
              <a:rPr sz="1400" dirty="0">
                <a:latin typeface="Calibri"/>
                <a:cs typeface="Calibri"/>
              </a:rPr>
              <a:t>teaches</a:t>
            </a:r>
            <a:r>
              <a:rPr sz="1400" spc="4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cultural</a:t>
            </a:r>
            <a:r>
              <a:rPr sz="1400" spc="4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heritage,</a:t>
            </a:r>
            <a:r>
              <a:rPr sz="1400" spc="43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dance</a:t>
            </a:r>
            <a:r>
              <a:rPr sz="1400" spc="3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beats,</a:t>
            </a:r>
            <a:r>
              <a:rPr sz="1400" spc="4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3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stories</a:t>
            </a:r>
            <a:r>
              <a:rPr sz="1400" spc="3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3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4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interactive,</a:t>
            </a:r>
            <a:r>
              <a:rPr sz="1400" spc="4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voice-	</a:t>
            </a:r>
            <a:r>
              <a:rPr sz="1400" dirty="0">
                <a:latin typeface="Calibri"/>
                <a:cs typeface="Calibri"/>
              </a:rPr>
              <a:t>based</a:t>
            </a:r>
            <a:r>
              <a:rPr sz="1400" spc="9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game.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25131F-6FF4-EB8D-41DA-558C2F70C216}"/>
              </a:ext>
            </a:extLst>
          </p:cNvPr>
          <p:cNvSpPr txBox="1"/>
          <p:nvPr/>
        </p:nvSpPr>
        <p:spPr>
          <a:xfrm>
            <a:off x="-4729" y="997514"/>
            <a:ext cx="356516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r>
              <a:rPr lang="en-US" sz="2000" b="1">
                <a:solidFill>
                  <a:schemeClr val="accent1"/>
                </a:solidFill>
                <a:latin typeface="Calibri"/>
                <a:ea typeface="ＭＳ Ｐゴシック"/>
                <a:cs typeface="Calibri"/>
              </a:rPr>
              <a:t>❖ </a:t>
            </a:r>
            <a:r>
              <a:rPr lang="en-US" sz="2000" b="1">
                <a:solidFill>
                  <a:schemeClr val="accent1"/>
                </a:solidFill>
                <a:latin typeface="Book Antiqua"/>
                <a:ea typeface="ＭＳ Ｐゴシック"/>
              </a:rPr>
              <a:t>Technology Stack</a:t>
            </a:r>
            <a:endParaRPr lang="en-US" sz="2000">
              <a:solidFill>
                <a:schemeClr val="accent1"/>
              </a:solidFill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ACCC38-118D-5F58-F264-B014906746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00" b="251"/>
          <a:stretch>
            <a:fillRect/>
          </a:stretch>
        </p:blipFill>
        <p:spPr>
          <a:xfrm>
            <a:off x="5190726" y="1078817"/>
            <a:ext cx="6998926" cy="5273287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85FB6282-FE9D-A4A9-DD09-E86A39E0B5FE}"/>
              </a:ext>
            </a:extLst>
          </p:cNvPr>
          <p:cNvSpPr txBox="1"/>
          <p:nvPr/>
        </p:nvSpPr>
        <p:spPr>
          <a:xfrm>
            <a:off x="-1666" y="1397749"/>
            <a:ext cx="5210747" cy="523989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285750" indent="-285750" algn="just">
              <a:buFont typeface="Arial"/>
              <a:buChar char="•"/>
            </a:pPr>
            <a:r>
              <a:rPr lang="en-US" sz="1450" b="1">
                <a:latin typeface="Book Antiqua"/>
                <a:ea typeface="Calibri"/>
                <a:cs typeface="Calibri"/>
              </a:rPr>
              <a:t>Hardware &amp; Embedded :</a:t>
            </a:r>
            <a:r>
              <a:rPr lang="en-US" sz="1450">
                <a:latin typeface="Book Antiqua"/>
                <a:ea typeface="Calibri"/>
                <a:cs typeface="Calibri"/>
              </a:rPr>
              <a:t> ESP32 / Raspberry Pi, Mic &amp; Speaker, Push Buttons, MicroSD Card (Offline Audio), Li-ion Battery.</a:t>
            </a:r>
            <a:endParaRPr lang="en-US" sz="1450">
              <a:latin typeface="Book Antiqua"/>
            </a:endParaRPr>
          </a:p>
          <a:p>
            <a:pPr marL="285750" indent="-285750" algn="just">
              <a:buFont typeface="Arial"/>
              <a:buChar char="•"/>
            </a:pPr>
            <a:endParaRPr lang="en-US" sz="1450">
              <a:latin typeface="Book Antiqua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50" b="1">
                <a:latin typeface="Book Antiqua"/>
                <a:ea typeface="Calibri"/>
                <a:cs typeface="Calibri"/>
              </a:rPr>
              <a:t>Frontend &amp; Mobile App :</a:t>
            </a:r>
            <a:r>
              <a:rPr lang="en-US" sz="1450">
                <a:latin typeface="Book Antiqua"/>
                <a:ea typeface="Calibri"/>
                <a:cs typeface="Calibri"/>
              </a:rPr>
              <a:t> Flutter / React Native (Parental Dashboard &amp; Story Selection).</a:t>
            </a:r>
            <a:endParaRPr lang="en-US" sz="1450">
              <a:latin typeface="Book Antiqua"/>
            </a:endParaRPr>
          </a:p>
          <a:p>
            <a:pPr marL="285750" indent="-285750" algn="just">
              <a:buFont typeface="Arial"/>
              <a:buChar char="•"/>
            </a:pPr>
            <a:endParaRPr lang="en-US" sz="1450">
              <a:latin typeface="Book Antiqua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50" b="1">
                <a:latin typeface="Book Antiqua"/>
                <a:ea typeface="Calibri"/>
                <a:cs typeface="Calibri"/>
              </a:rPr>
              <a:t>Backend :</a:t>
            </a:r>
            <a:r>
              <a:rPr lang="en-US" sz="1450">
                <a:latin typeface="Book Antiqua"/>
                <a:ea typeface="Calibri"/>
                <a:cs typeface="Calibri"/>
              </a:rPr>
              <a:t> Python (</a:t>
            </a:r>
            <a:r>
              <a:rPr lang="en-US" sz="1450" err="1">
                <a:latin typeface="Book Antiqua"/>
                <a:ea typeface="Calibri"/>
                <a:cs typeface="Calibri"/>
              </a:rPr>
              <a:t>FastAPI</a:t>
            </a:r>
            <a:r>
              <a:rPr lang="en-US" sz="1450">
                <a:latin typeface="Book Antiqua"/>
                <a:ea typeface="Calibri"/>
                <a:cs typeface="Calibri"/>
              </a:rPr>
              <a:t>), Node.js, Express.js, REST APIs, </a:t>
            </a:r>
            <a:r>
              <a:rPr lang="en-US" sz="1450" err="1">
                <a:latin typeface="Book Antiqua"/>
                <a:ea typeface="Calibri"/>
                <a:cs typeface="Calibri"/>
              </a:rPr>
              <a:t>WebSockets</a:t>
            </a:r>
            <a:r>
              <a:rPr lang="en-US" sz="1450">
                <a:latin typeface="Book Antiqua"/>
                <a:ea typeface="Calibri"/>
                <a:cs typeface="Calibri"/>
              </a:rPr>
              <a:t> (Real-time Voice &amp; Audio Streaming).</a:t>
            </a:r>
            <a:endParaRPr lang="en-US" sz="1450">
              <a:latin typeface="Book Antiqua"/>
            </a:endParaRPr>
          </a:p>
          <a:p>
            <a:pPr marL="285750" indent="-285750" algn="just">
              <a:buFont typeface="Arial"/>
              <a:buChar char="•"/>
            </a:pPr>
            <a:endParaRPr lang="en-US" sz="1450">
              <a:latin typeface="Book Antiqua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50" b="1">
                <a:latin typeface="Book Antiqua"/>
                <a:ea typeface="Calibri"/>
                <a:cs typeface="Calibri"/>
              </a:rPr>
              <a:t>AI, Speech &amp; Audio :</a:t>
            </a:r>
            <a:r>
              <a:rPr lang="en-US" sz="1450">
                <a:latin typeface="Book Antiqua"/>
                <a:ea typeface="Calibri"/>
                <a:cs typeface="Calibri"/>
              </a:rPr>
              <a:t> Whisper (STT), Piper / Coqui (TTS), Lightweight LLM (Llama / Gemma) with </a:t>
            </a:r>
            <a:r>
              <a:rPr lang="en-US" sz="1450" b="1">
                <a:latin typeface="Book Antiqua"/>
                <a:ea typeface="Calibri"/>
                <a:cs typeface="Calibri"/>
              </a:rPr>
              <a:t>RAG (</a:t>
            </a:r>
            <a:r>
              <a:rPr lang="en-US" sz="1450" b="1" err="1">
                <a:latin typeface="Book Antiqua"/>
                <a:ea typeface="Calibri"/>
                <a:cs typeface="Calibri"/>
              </a:rPr>
              <a:t>ChromaDB</a:t>
            </a:r>
            <a:r>
              <a:rPr lang="en-US" sz="1450" b="1">
                <a:latin typeface="Book Antiqua"/>
                <a:ea typeface="Calibri"/>
                <a:cs typeface="Calibri"/>
              </a:rPr>
              <a:t>)</a:t>
            </a:r>
            <a:r>
              <a:rPr lang="en-US" sz="1450">
                <a:latin typeface="Book Antiqua"/>
                <a:ea typeface="Calibri"/>
                <a:cs typeface="Calibri"/>
              </a:rPr>
              <a:t> for Indian cultural lore &amp; </a:t>
            </a:r>
            <a:r>
              <a:rPr lang="en-US" sz="1450" err="1">
                <a:latin typeface="Book Antiqua"/>
                <a:ea typeface="Calibri"/>
                <a:cs typeface="Calibri"/>
              </a:rPr>
              <a:t>PyGame</a:t>
            </a:r>
            <a:r>
              <a:rPr lang="en-US" sz="1450">
                <a:latin typeface="Book Antiqua"/>
                <a:ea typeface="Calibri"/>
                <a:cs typeface="Calibri"/>
              </a:rPr>
              <a:t>/</a:t>
            </a:r>
            <a:r>
              <a:rPr lang="en-US" sz="1450" err="1">
                <a:latin typeface="Book Antiqua"/>
                <a:ea typeface="Calibri"/>
                <a:cs typeface="Calibri"/>
              </a:rPr>
              <a:t>SoX</a:t>
            </a:r>
            <a:r>
              <a:rPr lang="en-US" sz="1450">
                <a:latin typeface="Book Antiqua"/>
                <a:ea typeface="Calibri"/>
                <a:cs typeface="Calibri"/>
              </a:rPr>
              <a:t> (Dance Beats Engine).</a:t>
            </a:r>
            <a:endParaRPr lang="en-US" sz="1450">
              <a:latin typeface="Book Antiqua"/>
            </a:endParaRPr>
          </a:p>
          <a:p>
            <a:pPr marL="285750" indent="-285750" algn="just">
              <a:buFont typeface="Arial"/>
              <a:buChar char="•"/>
            </a:pPr>
            <a:endParaRPr lang="en-US" sz="1450">
              <a:latin typeface="Book Antiqua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50" b="1">
                <a:latin typeface="Book Antiqua"/>
                <a:ea typeface="Calibri"/>
                <a:cs typeface="Calibri"/>
              </a:rPr>
              <a:t>Database &amp; Cloud :</a:t>
            </a:r>
            <a:r>
              <a:rPr lang="en-US" sz="1450">
                <a:latin typeface="Book Antiqua"/>
                <a:ea typeface="Calibri"/>
                <a:cs typeface="Calibri"/>
              </a:rPr>
              <a:t> Firebase / MongoDB (State progression, Level 1–28 unlocks, Badges), Cloud Storage (Audio assets).</a:t>
            </a:r>
            <a:endParaRPr lang="en-US" sz="1450">
              <a:latin typeface="Book Antiqua"/>
            </a:endParaRPr>
          </a:p>
          <a:p>
            <a:pPr marL="285750" indent="-285750" algn="just">
              <a:buFont typeface="Arial"/>
              <a:buChar char="•"/>
            </a:pPr>
            <a:endParaRPr lang="en-US" sz="1450">
              <a:latin typeface="Book Antiqua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50" b="1">
                <a:latin typeface="Book Antiqua"/>
                <a:ea typeface="Calibri"/>
                <a:cs typeface="Calibri"/>
              </a:rPr>
              <a:t>APIs &amp; Localization :</a:t>
            </a:r>
            <a:r>
              <a:rPr lang="en-US" sz="1450">
                <a:latin typeface="Book Antiqua"/>
                <a:ea typeface="Calibri"/>
                <a:cs typeface="Calibri"/>
              </a:rPr>
              <a:t> Bhashini API (Indian Multilingual Greetings &amp; Translation), AWS / Cloud storage.</a:t>
            </a:r>
            <a:endParaRPr lang="en-US" sz="1450">
              <a:latin typeface="Book Antiqua"/>
            </a:endParaRPr>
          </a:p>
          <a:p>
            <a:pPr marL="285750" indent="-285750" algn="just">
              <a:buFont typeface="Arial"/>
              <a:buChar char="•"/>
            </a:pPr>
            <a:endParaRPr lang="en-US" sz="1500">
              <a:latin typeface="Book Antiqua"/>
              <a:ea typeface="Calibri"/>
              <a:cs typeface="Calibri"/>
            </a:endParaRPr>
          </a:p>
          <a:p>
            <a:pPr algn="l"/>
            <a:endParaRPr lang="en-US" sz="1500">
              <a:cs typeface="Calibri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1248DA8B-842C-AEAA-9605-67E866AA96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2330" y="177295"/>
            <a:ext cx="2238708" cy="79484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Heisen-De-Bug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E977-1C1A-88FC-2572-AA577250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F254A07-F682-25A3-E228-AF53A5A19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FD0BE-486E-A973-3DD2-B0EE6770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EB3869-AF7E-A638-3E11-EA600FBB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3252ED-6624-2483-80BE-4CEA559AF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32" name="Picture 17431">
            <a:extLst>
              <a:ext uri="{FF2B5EF4-FFF2-40B4-BE49-F238E27FC236}">
                <a16:creationId xmlns:a16="http://schemas.microsoft.com/office/drawing/2014/main" id="{D9D1096C-0E63-A249-EAC8-0B76D6495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" y="1099899"/>
            <a:ext cx="5891530" cy="1102558"/>
          </a:xfrm>
          <a:prstGeom prst="rect">
            <a:avLst/>
          </a:prstGeom>
        </p:spPr>
      </p:pic>
      <p:pic>
        <p:nvPicPr>
          <p:cNvPr id="17436" name="Picture 17435">
            <a:extLst>
              <a:ext uri="{FF2B5EF4-FFF2-40B4-BE49-F238E27FC236}">
                <a16:creationId xmlns:a16="http://schemas.microsoft.com/office/drawing/2014/main" id="{675E9CAA-1C7F-D633-45CC-4B4099614E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210" y="3322399"/>
            <a:ext cx="6115050" cy="1083310"/>
          </a:xfrm>
          <a:prstGeom prst="rect">
            <a:avLst/>
          </a:prstGeom>
        </p:spPr>
      </p:pic>
      <p:pic>
        <p:nvPicPr>
          <p:cNvPr id="3" name="Picture 2" descr="A white background with black border&#10;&#10;AI-generated content may be incorrect.">
            <a:extLst>
              <a:ext uri="{FF2B5EF4-FFF2-40B4-BE49-F238E27FC236}">
                <a16:creationId xmlns:a16="http://schemas.microsoft.com/office/drawing/2014/main" id="{C5F0F00B-BAD7-D786-FC71-836E41917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" y="2207339"/>
            <a:ext cx="5891530" cy="1315918"/>
          </a:xfrm>
          <a:prstGeom prst="rect">
            <a:avLst/>
          </a:prstGeom>
        </p:spPr>
      </p:pic>
      <p:pic>
        <p:nvPicPr>
          <p:cNvPr id="4" name="Picture 3" descr="A white background with black border&#10;&#10;AI-generated content may be incorrect.">
            <a:extLst>
              <a:ext uri="{FF2B5EF4-FFF2-40B4-BE49-F238E27FC236}">
                <a16:creationId xmlns:a16="http://schemas.microsoft.com/office/drawing/2014/main" id="{6BFE4FDF-59D9-E67D-01C7-CCDAAADFB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" y="3528139"/>
            <a:ext cx="5891530" cy="1529278"/>
          </a:xfrm>
          <a:prstGeom prst="rect">
            <a:avLst/>
          </a:prstGeom>
        </p:spPr>
      </p:pic>
      <p:pic>
        <p:nvPicPr>
          <p:cNvPr id="5" name="Picture 4" descr="A white background with black border&#10;&#10;AI-generated content may be incorrect.">
            <a:extLst>
              <a:ext uri="{FF2B5EF4-FFF2-40B4-BE49-F238E27FC236}">
                <a16:creationId xmlns:a16="http://schemas.microsoft.com/office/drawing/2014/main" id="{A89EA8F9-9839-B588-013C-CE86E26D2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" y="5062299"/>
            <a:ext cx="5891530" cy="1163518"/>
          </a:xfrm>
          <a:prstGeom prst="rect">
            <a:avLst/>
          </a:prstGeom>
        </p:spPr>
      </p:pic>
      <p:sp>
        <p:nvSpPr>
          <p:cNvPr id="17511" name="TextBox 17510">
            <a:extLst>
              <a:ext uri="{FF2B5EF4-FFF2-40B4-BE49-F238E27FC236}">
                <a16:creationId xmlns:a16="http://schemas.microsoft.com/office/drawing/2014/main" id="{949E4E36-A7CA-1571-5208-EF9E354638E8}"/>
              </a:ext>
            </a:extLst>
          </p:cNvPr>
          <p:cNvSpPr txBox="1"/>
          <p:nvPr/>
        </p:nvSpPr>
        <p:spPr>
          <a:xfrm>
            <a:off x="103945" y="1103141"/>
            <a:ext cx="5891236" cy="52014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b="1" dirty="0">
                <a:latin typeface="Calibri"/>
                <a:ea typeface="Calibri"/>
                <a:cs typeface="Calibri"/>
              </a:rPr>
              <a:t> ️       </a:t>
            </a:r>
            <a:r>
              <a:rPr lang="en-US" sz="1400" b="1" dirty="0">
                <a:latin typeface="Book Antiqua"/>
                <a:ea typeface="Calibri"/>
                <a:cs typeface="Calibri"/>
              </a:rPr>
              <a:t>Feasibility</a:t>
            </a:r>
            <a:endParaRPr lang="en-US" sz="14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Technical: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ESP32-S3 + lightweight cloud LLM for edge wake-word &amp; audio.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Modular: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Removable electronics pod for easy washing &amp; modular repairs.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Market: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High demand from working parents for screen-free cultural tools.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Economic: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Low hardware BOM (~₹1200–1500) with scalable cloud back-end.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 sz="1200" b="1" dirty="0">
              <a:latin typeface="Book Antiqua"/>
              <a:ea typeface="Calibri"/>
              <a:cs typeface="Calibri"/>
            </a:endParaRPr>
          </a:p>
          <a:p>
            <a:pPr algn="just"/>
            <a:r>
              <a:rPr lang="en-US" sz="1400" b="1" dirty="0">
                <a:latin typeface="Book Antiqua"/>
                <a:ea typeface="Calibri"/>
                <a:cs typeface="Calibri"/>
              </a:rPr>
              <a:t>      Viability</a:t>
            </a:r>
            <a:endParaRPr lang="en-US" sz="1400" dirty="0">
              <a:latin typeface="Book Antiqua"/>
              <a:ea typeface="Calibri"/>
              <a:cs typeface="Calibri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Revenue Streams:</a:t>
            </a:r>
            <a:r>
              <a:rPr lang="en-US" sz="1200" dirty="0">
                <a:latin typeface="Book Antiqua"/>
                <a:ea typeface="Calibri"/>
                <a:cs typeface="Calibri"/>
              </a:rPr>
              <a:t> Toy hardware sales, monthly content packs, premium features.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Target Base:</a:t>
            </a:r>
            <a:r>
              <a:rPr lang="en-US" sz="1200" dirty="0">
                <a:latin typeface="Book Antiqua"/>
                <a:ea typeface="Calibri"/>
                <a:cs typeface="Calibri"/>
              </a:rPr>
              <a:t> Millions of urban Indian children with working parents.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Scalability:</a:t>
            </a:r>
            <a:r>
              <a:rPr lang="en-US" sz="1200" dirty="0">
                <a:latin typeface="Book Antiqua"/>
                <a:ea typeface="Calibri"/>
                <a:cs typeface="Calibri"/>
              </a:rPr>
              <a:t> Expands to 28 state modules, folk beats, and local dialects.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Retention:</a:t>
            </a:r>
            <a:r>
              <a:rPr lang="en-US" sz="1200" dirty="0">
                <a:latin typeface="Book Antiqua"/>
                <a:ea typeface="Calibri"/>
                <a:cs typeface="Calibri"/>
              </a:rPr>
              <a:t> Continuous cultural lore, rhythm games, and festival riddles.</a:t>
            </a:r>
          </a:p>
          <a:p>
            <a:pPr marL="285750" indent="-285750" algn="just">
              <a:buFont typeface="Arial"/>
              <a:buChar char="•"/>
            </a:pPr>
            <a:endParaRPr lang="en-US" sz="1200" dirty="0">
              <a:latin typeface="Book Antiqua"/>
              <a:ea typeface="Calibri"/>
              <a:cs typeface="Calibri"/>
            </a:endParaRPr>
          </a:p>
          <a:p>
            <a:pPr algn="just"/>
            <a:r>
              <a:rPr lang="en-US" sz="1400" b="1" dirty="0">
                <a:latin typeface="Book Antiqua"/>
                <a:ea typeface="Calibri"/>
                <a:cs typeface="Calibri"/>
              </a:rPr>
              <a:t>      Use Cases</a:t>
            </a:r>
            <a:endParaRPr lang="en-US" sz="14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Children (3–10 yrs):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Interactive companion for bedtime stories, dances &amp; riddles.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Working Parents: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Curb screen time and track progress via companion app.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Cultural Discovery: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Learn Bharatnatyam beats, state greetings, cuisines &amp; lore.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Family Connection: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Parents/grandparents send remote audio messages &amp; story prompts.</a:t>
            </a:r>
            <a:endParaRPr lang="en-US" sz="1200" dirty="0">
              <a:latin typeface="Book Antiqua"/>
              <a:cs typeface="Calibri"/>
            </a:endParaRPr>
          </a:p>
          <a:p>
            <a:pPr algn="just"/>
            <a:endParaRPr lang="en-US" sz="1400" b="1" dirty="0">
              <a:latin typeface="Book Antiqua"/>
              <a:ea typeface="Calibri"/>
              <a:cs typeface="Calibri"/>
            </a:endParaRPr>
          </a:p>
          <a:p>
            <a:pPr algn="just"/>
            <a:r>
              <a:rPr lang="en-US" sz="1400" b="1" dirty="0">
                <a:latin typeface="Book Antiqua"/>
                <a:ea typeface="Calibri"/>
                <a:cs typeface="Calibri"/>
              </a:rPr>
              <a:t>      Business Potential</a:t>
            </a:r>
            <a:endParaRPr lang="en-US" sz="14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D2C Sales: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Direct smart plush toy retail.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Subscriptions: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Monthly story, dance, and quest pack drops.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Institutional: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Preschool &amp; early childhood education tie-ups.</a:t>
            </a:r>
            <a:endParaRPr lang="en-US" sz="1200" dirty="0">
              <a:latin typeface="Book Antiqua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Gamification Add-ons: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Collectible physical state badges, cards &amp; outfits.</a:t>
            </a:r>
            <a:endParaRPr lang="en-US" sz="1200" dirty="0">
              <a:latin typeface="Book Antiqua"/>
              <a:cs typeface="Calibri"/>
            </a:endParaRPr>
          </a:p>
          <a:p>
            <a:pPr algn="just"/>
            <a:endParaRPr lang="en-US" sz="1200" dirty="0">
              <a:latin typeface="Book Antiqua"/>
              <a:ea typeface="Calibri"/>
              <a:cs typeface="Calibri"/>
            </a:endParaRPr>
          </a:p>
        </p:txBody>
      </p:sp>
      <p:pic>
        <p:nvPicPr>
          <p:cNvPr id="17489" name="Picture 17488">
            <a:extLst>
              <a:ext uri="{FF2B5EF4-FFF2-40B4-BE49-F238E27FC236}">
                <a16:creationId xmlns:a16="http://schemas.microsoft.com/office/drawing/2014/main" id="{335B170D-3A63-00A0-AEED-C4257E6D7A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685" y="5159255"/>
            <a:ext cx="293370" cy="242570"/>
          </a:xfrm>
          <a:prstGeom prst="rect">
            <a:avLst/>
          </a:prstGeom>
        </p:spPr>
      </p:pic>
      <p:pic>
        <p:nvPicPr>
          <p:cNvPr id="17479" name="Picture 17478">
            <a:extLst>
              <a:ext uri="{FF2B5EF4-FFF2-40B4-BE49-F238E27FC236}">
                <a16:creationId xmlns:a16="http://schemas.microsoft.com/office/drawing/2014/main" id="{10EF3F25-FA81-7EA6-27A0-6DBC61B09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685" y="3657917"/>
            <a:ext cx="290195" cy="181610"/>
          </a:xfrm>
          <a:prstGeom prst="rect">
            <a:avLst/>
          </a:prstGeom>
        </p:spPr>
      </p:pic>
      <p:sp>
        <p:nvSpPr>
          <p:cNvPr id="17409" name="Title 1">
            <a:extLst>
              <a:ext uri="{FF2B5EF4-FFF2-40B4-BE49-F238E27FC236}">
                <a16:creationId xmlns:a16="http://schemas.microsoft.com/office/drawing/2014/main" id="{EFD3EF73-121B-50AF-65FF-7AA23E55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7438" name="Picture 17437">
            <a:extLst>
              <a:ext uri="{FF2B5EF4-FFF2-40B4-BE49-F238E27FC236}">
                <a16:creationId xmlns:a16="http://schemas.microsoft.com/office/drawing/2014/main" id="{D67552DD-1D97-82D8-2DDB-329B10D389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655" y="1148397"/>
            <a:ext cx="269875" cy="201930"/>
          </a:xfrm>
          <a:prstGeom prst="rect">
            <a:avLst/>
          </a:prstGeom>
        </p:spPr>
      </p:pic>
      <p:pic>
        <p:nvPicPr>
          <p:cNvPr id="17448" name="Picture 17447">
            <a:extLst>
              <a:ext uri="{FF2B5EF4-FFF2-40B4-BE49-F238E27FC236}">
                <a16:creationId xmlns:a16="http://schemas.microsoft.com/office/drawing/2014/main" id="{58237187-3CF3-201F-418E-F8ECE91BFE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815" y="2273815"/>
            <a:ext cx="232410" cy="242570"/>
          </a:xfrm>
          <a:prstGeom prst="rect">
            <a:avLst/>
          </a:prstGeom>
        </p:spPr>
      </p:pic>
      <p:pic>
        <p:nvPicPr>
          <p:cNvPr id="9" name="Picture 8" descr="A white background with black border&#10;&#10;AI-generated content may be incorrect.">
            <a:extLst>
              <a:ext uri="{FF2B5EF4-FFF2-40B4-BE49-F238E27FC236}">
                <a16:creationId xmlns:a16="http://schemas.microsoft.com/office/drawing/2014/main" id="{3CB76B9F-E6E0-7F95-394C-1666B93E0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020" y="1099899"/>
            <a:ext cx="6115050" cy="11025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CC075D-2DCD-6C27-7333-F98C20C0E894}"/>
              </a:ext>
            </a:extLst>
          </p:cNvPr>
          <p:cNvSpPr txBox="1"/>
          <p:nvPr/>
        </p:nvSpPr>
        <p:spPr>
          <a:xfrm>
            <a:off x="5986585" y="1143780"/>
            <a:ext cx="6185876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 b="1">
                <a:latin typeface="Book Antiqua"/>
                <a:ea typeface="Calibri"/>
                <a:cs typeface="Calibri"/>
              </a:rPr>
              <a:t>      Challenges</a:t>
            </a:r>
            <a:endParaRPr lang="en-US" sz="1200" dirty="0">
              <a:latin typeface="Book Antiqua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 b="1">
                <a:latin typeface="Book Antiqua"/>
                <a:ea typeface="Calibri"/>
                <a:cs typeface="Calibri"/>
              </a:rPr>
              <a:t>Child Speech Accuracy:</a:t>
            </a:r>
            <a:r>
              <a:rPr lang="en-US" sz="1200">
                <a:latin typeface="Book Antiqua"/>
                <a:ea typeface="Calibri"/>
                <a:cs typeface="Calibri"/>
              </a:rPr>
              <a:t> Varied pitch &amp; accents can reduce standard model accuracy.</a:t>
            </a:r>
            <a:endParaRPr lang="en-US" sz="1200">
              <a:latin typeface="Book Antiqua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 b="1">
                <a:latin typeface="Book Antiqua"/>
                <a:ea typeface="Calibri"/>
                <a:cs typeface="Calibri"/>
              </a:rPr>
              <a:t>Privacy</a:t>
            </a:r>
            <a:r>
              <a:rPr lang="en-US" sz="1200" b="1" dirty="0">
                <a:latin typeface="Book Antiqua"/>
                <a:ea typeface="Calibri"/>
                <a:cs typeface="Calibri"/>
              </a:rPr>
              <a:t> Concerns:</a:t>
            </a:r>
            <a:r>
              <a:rPr lang="en-US" sz="1200">
                <a:latin typeface="Book Antiqua"/>
                <a:ea typeface="Calibri"/>
                <a:cs typeface="Calibri"/>
              </a:rPr>
              <a:t> Parents worry about continuous listening by the kid.</a:t>
            </a:r>
          </a:p>
          <a:p>
            <a:pPr marL="171450" indent="-171450" algn="just">
              <a:buFont typeface="Arial"/>
              <a:buChar char="•"/>
            </a:pPr>
            <a:r>
              <a:rPr lang="en-US" sz="1200" b="1">
                <a:latin typeface="Book Antiqua"/>
                <a:ea typeface="Calibri"/>
                <a:cs typeface="Calibri"/>
              </a:rPr>
              <a:t>Toy Physical Durability:</a:t>
            </a:r>
            <a:r>
              <a:rPr lang="en-US" sz="1200">
                <a:latin typeface="Book Antiqua"/>
                <a:ea typeface="Calibri"/>
                <a:cs typeface="Calibri"/>
              </a:rPr>
              <a:t> Must survive drops, hugs, liquid spills, and rough play.</a:t>
            </a:r>
            <a:endParaRPr lang="en-US" sz="1200">
              <a:latin typeface="Book Antiqua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 b="1" dirty="0">
                <a:latin typeface="Book Antiqua"/>
                <a:ea typeface="Calibri"/>
                <a:cs typeface="Calibri"/>
              </a:rPr>
              <a:t>Thermal/Battery Risk:</a:t>
            </a:r>
            <a:r>
              <a:rPr lang="en-US" sz="1200" dirty="0">
                <a:latin typeface="Book Antiqua"/>
                <a:ea typeface="Calibri"/>
                <a:cs typeface="Calibri"/>
              </a:rPr>
              <a:t> Regular lithium-ion batteries </a:t>
            </a:r>
            <a:r>
              <a:rPr lang="en-US" sz="1200">
                <a:latin typeface="Book Antiqua"/>
                <a:ea typeface="Calibri"/>
                <a:cs typeface="Calibri"/>
              </a:rPr>
              <a:t>have heat</a:t>
            </a:r>
            <a:r>
              <a:rPr lang="en-US" sz="1200" dirty="0">
                <a:latin typeface="Book Antiqua"/>
                <a:ea typeface="Calibri"/>
                <a:cs typeface="Calibri"/>
              </a:rPr>
              <a:t> risk inside plush fabric.</a:t>
            </a:r>
            <a:endParaRPr lang="en-US" sz="1200" dirty="0">
              <a:latin typeface="Book Antiqua"/>
            </a:endParaRPr>
          </a:p>
          <a:p>
            <a:pPr marL="171450" indent="-171450" algn="just">
              <a:buFont typeface="Arial"/>
              <a:buChar char="•"/>
            </a:pPr>
            <a:endParaRPr lang="en-US" sz="1200" dirty="0">
              <a:latin typeface="Book Antiqua"/>
              <a:ea typeface="Calibri"/>
              <a:cs typeface="Calibri"/>
            </a:endParaRPr>
          </a:p>
          <a:p>
            <a:pPr algn="just"/>
            <a:endParaRPr lang="en-US" sz="1200" b="1" dirty="0">
              <a:latin typeface="Book Antiqua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F69C5A-8583-A834-2F83-6E5904E1658A}"/>
              </a:ext>
            </a:extLst>
          </p:cNvPr>
          <p:cNvSpPr txBox="1"/>
          <p:nvPr/>
        </p:nvSpPr>
        <p:spPr>
          <a:xfrm>
            <a:off x="6025303" y="3334173"/>
            <a:ext cx="599905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 b="1" dirty="0">
                <a:latin typeface="Book Antiqua"/>
                <a:ea typeface="ＭＳ Ｐゴシック"/>
              </a:rPr>
              <a:t>      Supporting Evidence</a:t>
            </a:r>
            <a:endParaRPr lang="en-US" sz="1400" dirty="0">
              <a:latin typeface="Book Antiqua"/>
              <a:ea typeface="ＭＳ Ｐゴシック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US" sz="1200" b="1" dirty="0">
                <a:latin typeface="Book Antiqua"/>
              </a:rPr>
              <a:t>Development:</a:t>
            </a:r>
            <a:r>
              <a:rPr lang="en-US" sz="1200" dirty="0">
                <a:latin typeface="Book Antiqua"/>
              </a:rPr>
              <a:t> Screen-free audio builds vocabulary 3x faster than with screen.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sz="1200" b="1" dirty="0">
                <a:latin typeface="Book Antiqua"/>
              </a:rPr>
              <a:t>Demand:</a:t>
            </a:r>
            <a:r>
              <a:rPr lang="en-US" sz="1200" dirty="0">
                <a:latin typeface="Book Antiqua"/>
              </a:rPr>
              <a:t> working parents actively seek screen-free physical alternatives.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sz="1200" b="1" dirty="0">
                <a:latin typeface="Book Antiqua"/>
              </a:rPr>
              <a:t>Tech Viability:</a:t>
            </a:r>
            <a:r>
              <a:rPr lang="en-US" sz="1200" dirty="0">
                <a:latin typeface="Book Antiqua"/>
              </a:rPr>
              <a:t> ESP32-S3 + local Whisper achieves low latency (&lt;1.2s) with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sz="1200" dirty="0">
                <a:latin typeface="Book Antiqua"/>
              </a:rPr>
              <a:t>zero thermal risk.</a:t>
            </a:r>
          </a:p>
          <a:p>
            <a:pPr algn="l"/>
            <a:endParaRPr lang="en-US" dirty="0">
              <a:cs typeface="Calibri"/>
            </a:endParaRPr>
          </a:p>
        </p:txBody>
      </p:sp>
      <p:pic>
        <p:nvPicPr>
          <p:cNvPr id="17458" name="Picture 17457">
            <a:extLst>
              <a:ext uri="{FF2B5EF4-FFF2-40B4-BE49-F238E27FC236}">
                <a16:creationId xmlns:a16="http://schemas.microsoft.com/office/drawing/2014/main" id="{A4AA6AE5-D42C-948A-CBC5-9A75DEB06E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3775" y="1133554"/>
            <a:ext cx="222250" cy="242570"/>
          </a:xfrm>
          <a:prstGeom prst="rect">
            <a:avLst/>
          </a:prstGeom>
        </p:spPr>
      </p:pic>
      <p:pic>
        <p:nvPicPr>
          <p:cNvPr id="15" name="Picture 14" descr="A white background with black border&#10;&#10;AI-generated content may be incorrect.">
            <a:extLst>
              <a:ext uri="{FF2B5EF4-FFF2-40B4-BE49-F238E27FC236}">
                <a16:creationId xmlns:a16="http://schemas.microsoft.com/office/drawing/2014/main" id="{C2BDC626-C146-3A4E-B937-F1EE38541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020" y="2207339"/>
            <a:ext cx="6115050" cy="11025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26B3AA-190B-D31F-9180-6514AE28CDCF}"/>
              </a:ext>
            </a:extLst>
          </p:cNvPr>
          <p:cNvSpPr txBox="1"/>
          <p:nvPr/>
        </p:nvSpPr>
        <p:spPr>
          <a:xfrm>
            <a:off x="5986585" y="2251219"/>
            <a:ext cx="6185876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 b="1" dirty="0">
                <a:latin typeface="Book Antiqua"/>
                <a:ea typeface="Calibri"/>
                <a:cs typeface="Calibri"/>
              </a:rPr>
              <a:t>      Solutions</a:t>
            </a:r>
            <a:endParaRPr lang="en-US" sz="1200" dirty="0">
              <a:latin typeface="Book Antiqua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 dirty="0">
                <a:latin typeface="Book Antiqua"/>
                <a:ea typeface="Calibri"/>
                <a:cs typeface="Calibri"/>
              </a:rPr>
              <a:t>Fine-tuned Whisper / Bhashini acoustic models for regional child speech.</a:t>
            </a:r>
            <a:endParaRPr lang="en-US" sz="1200" dirty="0">
              <a:latin typeface="Book Antiqua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 dirty="0">
                <a:latin typeface="Book Antiqua"/>
                <a:ea typeface="Calibri"/>
                <a:cs typeface="Calibri"/>
              </a:rPr>
              <a:t>Microphone streams audio only post wake-word; zero constant cloud logging.</a:t>
            </a:r>
            <a:endParaRPr lang="en-US" sz="1200" dirty="0">
              <a:latin typeface="Book Antiqua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 dirty="0">
                <a:latin typeface="Book Antiqua"/>
                <a:ea typeface="Calibri"/>
                <a:cs typeface="Calibri"/>
              </a:rPr>
              <a:t>Impact-resistant sealed inner core casing with LiFePO4 thermal-safe battery cells.</a:t>
            </a:r>
            <a:endParaRPr lang="en-US" sz="1200" dirty="0">
              <a:latin typeface="Book Antiqua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 dirty="0">
                <a:latin typeface="Book Antiqua"/>
                <a:ea typeface="Calibri"/>
                <a:cs typeface="Calibri"/>
              </a:rPr>
              <a:t>Parent-approved data rules with full encryption &amp; delete-by-default audio policy.</a:t>
            </a:r>
            <a:endParaRPr lang="en-US" sz="1200" dirty="0">
              <a:latin typeface="Book Antiqua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endParaRPr lang="en-US" sz="1200" dirty="0">
              <a:latin typeface="Book Antiqua"/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endParaRPr lang="en-US" sz="1200" dirty="0">
              <a:latin typeface="Book Antiqua"/>
              <a:ea typeface="Calibri"/>
              <a:cs typeface="Calibri"/>
            </a:endParaRPr>
          </a:p>
          <a:p>
            <a:pPr algn="just"/>
            <a:endParaRPr lang="en-US" sz="1200" b="1" dirty="0">
              <a:latin typeface="Book Antiqua"/>
              <a:ea typeface="Calibri"/>
              <a:cs typeface="Calibri"/>
            </a:endParaRPr>
          </a:p>
        </p:txBody>
      </p:sp>
      <p:pic>
        <p:nvPicPr>
          <p:cNvPr id="17478" name="Picture 17477">
            <a:extLst>
              <a:ext uri="{FF2B5EF4-FFF2-40B4-BE49-F238E27FC236}">
                <a16:creationId xmlns:a16="http://schemas.microsoft.com/office/drawing/2014/main" id="{5F51D070-2338-B51B-8CFA-D6025CDFB3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6120" y="2256532"/>
            <a:ext cx="290225" cy="257810"/>
          </a:xfrm>
          <a:prstGeom prst="rect">
            <a:avLst/>
          </a:prstGeom>
        </p:spPr>
      </p:pic>
      <p:pic>
        <p:nvPicPr>
          <p:cNvPr id="17500" name="Picture 17499">
            <a:extLst>
              <a:ext uri="{FF2B5EF4-FFF2-40B4-BE49-F238E27FC236}">
                <a16:creationId xmlns:a16="http://schemas.microsoft.com/office/drawing/2014/main" id="{0683E317-07AB-77BF-9801-640CC0EFDF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0225" y="3421141"/>
            <a:ext cx="133350" cy="114300"/>
          </a:xfrm>
          <a:prstGeom prst="rect">
            <a:avLst/>
          </a:prstGeom>
        </p:spPr>
      </p:pic>
      <p:pic>
        <p:nvPicPr>
          <p:cNvPr id="17499" name="Picture 17498">
            <a:extLst>
              <a:ext uri="{FF2B5EF4-FFF2-40B4-BE49-F238E27FC236}">
                <a16:creationId xmlns:a16="http://schemas.microsoft.com/office/drawing/2014/main" id="{60351941-57EE-660D-1F43-81022B2D40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0455" y="3410981"/>
            <a:ext cx="133350" cy="1143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21A915-6B81-BF2D-B872-584B0680F56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8674" t="60889" r="430" b="4727"/>
          <a:stretch>
            <a:fillRect/>
          </a:stretch>
        </p:blipFill>
        <p:spPr>
          <a:xfrm>
            <a:off x="6029491" y="4480560"/>
            <a:ext cx="6002904" cy="18699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6DF33879-57B7-64B6-796D-9CB11D9AD6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9871" y="164803"/>
            <a:ext cx="223870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Heisen-De-Bug</a:t>
            </a:r>
          </a:p>
        </p:txBody>
      </p:sp>
    </p:spTree>
    <p:extLst>
      <p:ext uri="{BB962C8B-B14F-4D97-AF65-F5344CB8AC3E}">
        <p14:creationId xmlns:p14="http://schemas.microsoft.com/office/powerpoint/2010/main" val="191675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8B9CC2D-19EB-1F10-DCA1-DC9400F202A6}"/>
              </a:ext>
            </a:extLst>
          </p:cNvPr>
          <p:cNvGrpSpPr/>
          <p:nvPr/>
        </p:nvGrpSpPr>
        <p:grpSpPr>
          <a:xfrm>
            <a:off x="333375" y="1237357"/>
            <a:ext cx="5765710" cy="1905000"/>
            <a:chOff x="333375" y="1237357"/>
            <a:chExt cx="5318670" cy="12954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90FBE99-9968-D122-FD48-797EA0622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1237357"/>
              <a:ext cx="5318670" cy="12954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47C9EDE-5632-C7A1-D5D6-7FFC8EC64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71104" y="1361182"/>
              <a:ext cx="1643062" cy="26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AD43A5-9246-1DF0-2587-4264BA7DC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043" y="1989832"/>
              <a:ext cx="628650" cy="2000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CA84B2-C76B-E27E-B408-9A3AF9422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95152" y="1989832"/>
              <a:ext cx="647700" cy="20002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D60747-6C6D-BBBD-8619-73D08ED9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59260" y="1989832"/>
              <a:ext cx="666750" cy="20002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8D347E-910C-9C4F-D86B-61186B294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32894" y="1989832"/>
              <a:ext cx="666750" cy="2000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EB5F567-B5A8-EEB9-10E3-D6FD78CE3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25578" y="1989832"/>
              <a:ext cx="628650" cy="20002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4F9B64-97D8-6BB9-778F-B431EAD1E501}"/>
                </a:ext>
              </a:extLst>
            </p:cNvPr>
            <p:cNvSpPr/>
            <p:nvPr/>
          </p:nvSpPr>
          <p:spPr>
            <a:xfrm>
              <a:off x="2983110" y="1704082"/>
              <a:ext cx="19050" cy="15240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D2151D-ED5C-67ED-7F98-7C51119A1B2A}"/>
                </a:ext>
              </a:extLst>
            </p:cNvPr>
            <p:cNvSpPr/>
            <p:nvPr/>
          </p:nvSpPr>
          <p:spPr>
            <a:xfrm>
              <a:off x="913655" y="1856482"/>
              <a:ext cx="4158108" cy="1905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58703EF-1231-F852-E17A-C5CA61719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906910" y="1551682"/>
              <a:ext cx="171450" cy="17145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E0DD76-516E-3ACB-CC9D-1DD85ADAEF4A}"/>
                </a:ext>
              </a:extLst>
            </p:cNvPr>
            <p:cNvSpPr/>
            <p:nvPr/>
          </p:nvSpPr>
          <p:spPr>
            <a:xfrm>
              <a:off x="1035843" y="1875532"/>
              <a:ext cx="19050" cy="11430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2C0F977-A62F-9A12-71F3-F96BA2BCD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50118" y="2218432"/>
              <a:ext cx="190500" cy="1905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396015-6F27-708A-AD65-30A597B3914B}"/>
                </a:ext>
              </a:extLst>
            </p:cNvPr>
            <p:cNvSpPr/>
            <p:nvPr/>
          </p:nvSpPr>
          <p:spPr>
            <a:xfrm>
              <a:off x="2009477" y="1875532"/>
              <a:ext cx="19050" cy="11430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1A64980-9BBF-A8FB-3BB1-950D3E86F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23752" y="2218432"/>
              <a:ext cx="190500" cy="190500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26B4D77-7C39-F935-8E47-D85DCF2F622B}"/>
                </a:ext>
              </a:extLst>
            </p:cNvPr>
            <p:cNvSpPr/>
            <p:nvPr/>
          </p:nvSpPr>
          <p:spPr>
            <a:xfrm>
              <a:off x="2983110" y="1875532"/>
              <a:ext cx="19050" cy="11430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0FBCFFB-12E5-4600-458F-199C7C4FA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897385" y="2218432"/>
              <a:ext cx="190500" cy="190500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8E0F552-C66C-054E-D35B-95D292427025}"/>
                </a:ext>
              </a:extLst>
            </p:cNvPr>
            <p:cNvSpPr/>
            <p:nvPr/>
          </p:nvSpPr>
          <p:spPr>
            <a:xfrm>
              <a:off x="3956744" y="1875532"/>
              <a:ext cx="19050" cy="11430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43A9360-0B48-ABD0-CD3A-FA8C81B22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871019" y="2218432"/>
              <a:ext cx="190500" cy="190500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F96016-DBFE-B5A6-CB69-1065BE790D7C}"/>
                </a:ext>
              </a:extLst>
            </p:cNvPr>
            <p:cNvSpPr/>
            <p:nvPr/>
          </p:nvSpPr>
          <p:spPr>
            <a:xfrm>
              <a:off x="4930378" y="1875532"/>
              <a:ext cx="19050" cy="11430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27AF1B3-17C6-0928-7913-0BCA0AE37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44653" y="2218432"/>
              <a:ext cx="190500" cy="1905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9EDE18C-AF64-1009-2F09-D685BF2A597A}"/>
              </a:ext>
            </a:extLst>
          </p:cNvPr>
          <p:cNvGrpSpPr/>
          <p:nvPr/>
        </p:nvGrpSpPr>
        <p:grpSpPr>
          <a:xfrm>
            <a:off x="330835" y="3398060"/>
            <a:ext cx="5476654" cy="1690656"/>
            <a:chOff x="330835" y="3354839"/>
            <a:chExt cx="5283614" cy="1254832"/>
          </a:xfrm>
        </p:grpSpPr>
        <p:sp>
          <p:nvSpPr>
            <p:cNvPr id="28" name="TextBox 22">
              <a:extLst>
                <a:ext uri="{FF2B5EF4-FFF2-40B4-BE49-F238E27FC236}">
                  <a16:creationId xmlns:a16="http://schemas.microsoft.com/office/drawing/2014/main" id="{3D020AE6-C9F7-71E7-1FC1-0D1B1756CF69}"/>
                </a:ext>
              </a:extLst>
            </p:cNvPr>
            <p:cNvSpPr txBox="1"/>
            <p:nvPr/>
          </p:nvSpPr>
          <p:spPr>
            <a:xfrm>
              <a:off x="349885" y="3354839"/>
              <a:ext cx="5264564" cy="20559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1" i="0" u="none">
                  <a:solidFill>
                    <a:schemeClr val="accent1"/>
                  </a:solidFill>
                  <a:latin typeface="Book Antiqua"/>
                  <a:ea typeface="Calibri"/>
                  <a:cs typeface="Calibri"/>
                </a:rPr>
                <a:t>Potential impact on the target audience:</a:t>
              </a:r>
              <a:endParaRPr lang="en-US" b="1" i="0" u="none">
                <a:solidFill>
                  <a:schemeClr val="accent1"/>
                </a:solidFill>
                <a:latin typeface="Book Antiqua"/>
                <a:ea typeface="Calibri"/>
                <a:cs typeface="Calibri"/>
              </a:endParaRPr>
            </a:p>
          </p:txBody>
        </p:sp>
        <p:sp>
          <p:nvSpPr>
            <p:cNvPr id="29" name="TextBox 24">
              <a:extLst>
                <a:ext uri="{FF2B5EF4-FFF2-40B4-BE49-F238E27FC236}">
                  <a16:creationId xmlns:a16="http://schemas.microsoft.com/office/drawing/2014/main" id="{1125C69E-F86F-B396-9201-9F4E0317CEF6}"/>
                </a:ext>
              </a:extLst>
            </p:cNvPr>
            <p:cNvSpPr txBox="1"/>
            <p:nvPr/>
          </p:nvSpPr>
          <p:spPr>
            <a:xfrm>
              <a:off x="330835" y="3652897"/>
              <a:ext cx="5032920" cy="5003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 algn="just">
                <a:lnSpc>
                  <a:spcPts val="1305"/>
                </a:lnSpc>
                <a:buFont typeface="Wingdings"/>
                <a:buChar char="ü"/>
              </a:pPr>
              <a:r>
                <a:rPr sz="1400" b="1" i="0" u="none">
                  <a:solidFill>
                    <a:srgbClr val="334155"/>
                  </a:solidFill>
                  <a:latin typeface="Calibri"/>
                  <a:ea typeface="Calibri"/>
                  <a:cs typeface="Calibri"/>
                </a:rPr>
                <a:t>For Children (Ages 3-10):</a:t>
              </a:r>
              <a:r>
                <a:rPr sz="1400" b="0" i="0" u="none">
                  <a:solidFill>
                    <a:srgbClr val="334155"/>
                  </a:solidFill>
                  <a:latin typeface="Calibri"/>
                  <a:ea typeface="Calibri"/>
                  <a:cs typeface="Calibri"/>
                </a:rPr>
                <a:t> Replaces screen addiction with active auditory engagement. Improves vocabulary, listening skills, and reconnects them with Indian folklore, classical dance beats &amp; state heritage.</a:t>
              </a:r>
              <a:endParaRPr lang="en-US" sz="14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" name="TextBox 25">
              <a:extLst>
                <a:ext uri="{FF2B5EF4-FFF2-40B4-BE49-F238E27FC236}">
                  <a16:creationId xmlns:a16="http://schemas.microsoft.com/office/drawing/2014/main" id="{D1D7A6EE-1874-A23C-F85C-E2850CB4CA5C}"/>
                </a:ext>
              </a:extLst>
            </p:cNvPr>
            <p:cNvSpPr txBox="1"/>
            <p:nvPr/>
          </p:nvSpPr>
          <p:spPr>
            <a:xfrm>
              <a:off x="330835" y="4234225"/>
              <a:ext cx="5032920" cy="37544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 algn="just">
                <a:lnSpc>
                  <a:spcPts val="1305"/>
                </a:lnSpc>
                <a:buFont typeface="Wingdings"/>
                <a:buChar char="ü"/>
              </a:pPr>
              <a:r>
                <a:rPr sz="1400" b="1" i="0" u="none">
                  <a:solidFill>
                    <a:srgbClr val="334155"/>
                  </a:solidFill>
                  <a:latin typeface="Calibri"/>
                  <a:ea typeface="Calibri"/>
                  <a:cs typeface="Calibri"/>
                </a:rPr>
                <a:t>For Working Parents:</a:t>
              </a:r>
              <a:r>
                <a:rPr sz="1400" b="0" i="0" u="none">
                  <a:solidFill>
                    <a:srgbClr val="334155"/>
                  </a:solidFill>
                  <a:latin typeface="Calibri"/>
                  <a:ea typeface="Calibri"/>
                  <a:cs typeface="Calibri"/>
                </a:rPr>
                <a:t> Provides a safe, screen-free companion during busy hours, reduces guilt of parental absence, and allows remote voice bonding &amp; progress tracking via companion app.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541E2965-A49C-0E60-54E0-3F8B7E2B7B71}"/>
              </a:ext>
            </a:extLst>
          </p:cNvPr>
          <p:cNvSpPr txBox="1"/>
          <p:nvPr/>
        </p:nvSpPr>
        <p:spPr>
          <a:xfrm>
            <a:off x="6172853" y="1192483"/>
            <a:ext cx="5813587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Book Antiqua"/>
                <a:ea typeface="Calibri"/>
                <a:cs typeface="Calibri"/>
              </a:rPr>
              <a:t>Benefits of the solution: </a:t>
            </a:r>
            <a:endParaRPr lang="en-US" sz="1600">
              <a:solidFill>
                <a:schemeClr val="accent1"/>
              </a:solidFill>
              <a:latin typeface="Book Antiqua"/>
              <a:cs typeface="Calibri"/>
            </a:endParaRPr>
          </a:p>
          <a:p>
            <a:r>
              <a:rPr lang="en-US" sz="1400" b="1">
                <a:latin typeface="Calibri"/>
                <a:ea typeface="Calibri"/>
                <a:cs typeface="Calibri"/>
              </a:rPr>
              <a:t>Social: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Crumble generational &amp; cultural gaps by introducing traditional lore, festival riddles, and regional dialects.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Fosters physical rhythm movement (Bhangra, Bharatnatyam) over sedentary phone browsing.</a:t>
            </a:r>
            <a:endParaRPr lang="en-US"/>
          </a:p>
          <a:p>
            <a:r>
              <a:rPr lang="en-US" sz="1400" b="1">
                <a:latin typeface="Calibri"/>
                <a:ea typeface="Calibri"/>
                <a:cs typeface="Calibri"/>
              </a:rPr>
              <a:t>Economic:</a:t>
            </a:r>
            <a:endParaRPr lang="en-US" sz="12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Affordable D2C hardware (~₹2,499 retail vs expensive ₹10k+ imported smart toys) built on BOM ₹1,290.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Scalable revenue through monthly regional content packs &amp; preschool institutional partnerships.</a:t>
            </a:r>
            <a:endParaRPr lang="en-US"/>
          </a:p>
          <a:p>
            <a:r>
              <a:rPr lang="en-US" sz="1400" b="1">
                <a:latin typeface="Calibri"/>
                <a:ea typeface="Calibri"/>
                <a:cs typeface="Calibri"/>
              </a:rPr>
              <a:t>Educational: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Gamified 28-state Bharat Yatra unlocks greetings, regional cuisines, and state geography level-by-level.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Screen-free voice interaction builds auditory memory and speech retention 3x faster than passive videos.</a:t>
            </a:r>
            <a:endParaRPr lang="en-US"/>
          </a:p>
          <a:p>
            <a:r>
              <a:rPr lang="en-US" sz="1400" b="1">
                <a:latin typeface="Calibri"/>
                <a:ea typeface="Calibri"/>
                <a:cs typeface="Calibri"/>
              </a:rPr>
              <a:t>Technological: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Edge-AI (ESP32-S3 + localized Whisper STT) ensures ultra-low response latency (&lt;1.2s).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Microphone streams audio strictly post wake-word with zero constant cloud logging for 100% data privacy.</a:t>
            </a:r>
            <a:endParaRPr lang="en-US"/>
          </a:p>
          <a:p>
            <a:r>
              <a:rPr lang="en-US" sz="1400" b="1">
                <a:latin typeface="Calibri"/>
                <a:ea typeface="Calibri"/>
                <a:cs typeface="Calibri"/>
              </a:rPr>
              <a:t>Environmental &amp; Health:</a:t>
            </a:r>
            <a:endParaRPr lang="en-US" sz="1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Eliminates smartphone blue-light exposure, digital eye-strain, and early speech delay risks.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Impact-sealed drop-safe casing with eco-friendly washable plush fabric and thermal-safe LiFePO4 battery cells.</a:t>
            </a:r>
            <a:endParaRPr lang="en-US"/>
          </a:p>
          <a:p>
            <a:pPr algn="l"/>
            <a:endParaRPr lang="en-US" sz="1200" dirty="0">
              <a:latin typeface="Book Antiqua"/>
            </a:endParaRPr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DFC3733B-013E-6ABC-24AB-71A13AEFF251}"/>
              </a:ext>
            </a:extLst>
          </p:cNvPr>
          <p:cNvSpPr/>
          <p:nvPr/>
        </p:nvSpPr>
        <p:spPr>
          <a:xfrm>
            <a:off x="100012" y="223900"/>
            <a:ext cx="2229485" cy="819150"/>
          </a:xfrm>
          <a:custGeom>
            <a:avLst/>
            <a:gdLst/>
            <a:ahLst/>
            <a:cxnLst/>
            <a:rect l="l" t="t" r="r" b="b"/>
            <a:pathLst>
              <a:path w="2229485" h="819150">
                <a:moveTo>
                  <a:pt x="0" y="409575"/>
                </a:moveTo>
                <a:lnTo>
                  <a:pt x="8057" y="360048"/>
                </a:lnTo>
                <a:lnTo>
                  <a:pt x="31608" y="312281"/>
                </a:lnTo>
                <a:lnTo>
                  <a:pt x="69721" y="266615"/>
                </a:lnTo>
                <a:lnTo>
                  <a:pt x="121462" y="223393"/>
                </a:lnTo>
                <a:lnTo>
                  <a:pt x="185898" y="182955"/>
                </a:lnTo>
                <a:lnTo>
                  <a:pt x="222586" y="163888"/>
                </a:lnTo>
                <a:lnTo>
                  <a:pt x="262098" y="145644"/>
                </a:lnTo>
                <a:lnTo>
                  <a:pt x="304318" y="128269"/>
                </a:lnTo>
                <a:lnTo>
                  <a:pt x="349129" y="111803"/>
                </a:lnTo>
                <a:lnTo>
                  <a:pt x="396415" y="96290"/>
                </a:lnTo>
                <a:lnTo>
                  <a:pt x="446058" y="81772"/>
                </a:lnTo>
                <a:lnTo>
                  <a:pt x="497943" y="68292"/>
                </a:lnTo>
                <a:lnTo>
                  <a:pt x="551953" y="55894"/>
                </a:lnTo>
                <a:lnTo>
                  <a:pt x="607971" y="44619"/>
                </a:lnTo>
                <a:lnTo>
                  <a:pt x="665881" y="34510"/>
                </a:lnTo>
                <a:lnTo>
                  <a:pt x="725565" y="25611"/>
                </a:lnTo>
                <a:lnTo>
                  <a:pt x="786909" y="17963"/>
                </a:lnTo>
                <a:lnTo>
                  <a:pt x="849794" y="11610"/>
                </a:lnTo>
                <a:lnTo>
                  <a:pt x="914105" y="6595"/>
                </a:lnTo>
                <a:lnTo>
                  <a:pt x="979725" y="2959"/>
                </a:lnTo>
                <a:lnTo>
                  <a:pt x="1046537" y="747"/>
                </a:lnTo>
                <a:lnTo>
                  <a:pt x="1114425" y="0"/>
                </a:lnTo>
                <a:lnTo>
                  <a:pt x="1182315" y="747"/>
                </a:lnTo>
                <a:lnTo>
                  <a:pt x="1249130" y="2959"/>
                </a:lnTo>
                <a:lnTo>
                  <a:pt x="1314753" y="6595"/>
                </a:lnTo>
                <a:lnTo>
                  <a:pt x="1379067" y="11610"/>
                </a:lnTo>
                <a:lnTo>
                  <a:pt x="1441955" y="17963"/>
                </a:lnTo>
                <a:lnTo>
                  <a:pt x="1503302" y="25611"/>
                </a:lnTo>
                <a:lnTo>
                  <a:pt x="1562990" y="34510"/>
                </a:lnTo>
                <a:lnTo>
                  <a:pt x="1620903" y="44619"/>
                </a:lnTo>
                <a:lnTo>
                  <a:pt x="1676924" y="55894"/>
                </a:lnTo>
                <a:lnTo>
                  <a:pt x="1730937" y="68292"/>
                </a:lnTo>
                <a:lnTo>
                  <a:pt x="1782825" y="81772"/>
                </a:lnTo>
                <a:lnTo>
                  <a:pt x="1832471" y="96290"/>
                </a:lnTo>
                <a:lnTo>
                  <a:pt x="1879760" y="111803"/>
                </a:lnTo>
                <a:lnTo>
                  <a:pt x="1924574" y="128269"/>
                </a:lnTo>
                <a:lnTo>
                  <a:pt x="1966796" y="145644"/>
                </a:lnTo>
                <a:lnTo>
                  <a:pt x="2006311" y="163888"/>
                </a:lnTo>
                <a:lnTo>
                  <a:pt x="2043001" y="182955"/>
                </a:lnTo>
                <a:lnTo>
                  <a:pt x="2076751" y="202804"/>
                </a:lnTo>
                <a:lnTo>
                  <a:pt x="2134960" y="244677"/>
                </a:lnTo>
                <a:lnTo>
                  <a:pt x="2180006" y="289164"/>
                </a:lnTo>
                <a:lnTo>
                  <a:pt x="2210957" y="335923"/>
                </a:lnTo>
                <a:lnTo>
                  <a:pt x="2226879" y="384613"/>
                </a:lnTo>
                <a:lnTo>
                  <a:pt x="2228913" y="409575"/>
                </a:lnTo>
                <a:lnTo>
                  <a:pt x="2226879" y="434523"/>
                </a:lnTo>
                <a:lnTo>
                  <a:pt x="2210957" y="483192"/>
                </a:lnTo>
                <a:lnTo>
                  <a:pt x="2180006" y="529938"/>
                </a:lnTo>
                <a:lnTo>
                  <a:pt x="2134960" y="574418"/>
                </a:lnTo>
                <a:lnTo>
                  <a:pt x="2076751" y="616288"/>
                </a:lnTo>
                <a:lnTo>
                  <a:pt x="2043001" y="636138"/>
                </a:lnTo>
                <a:lnTo>
                  <a:pt x="2006311" y="655207"/>
                </a:lnTo>
                <a:lnTo>
                  <a:pt x="1966796" y="673452"/>
                </a:lnTo>
                <a:lnTo>
                  <a:pt x="1924574" y="690831"/>
                </a:lnTo>
                <a:lnTo>
                  <a:pt x="1879760" y="707300"/>
                </a:lnTo>
                <a:lnTo>
                  <a:pt x="1832471" y="722818"/>
                </a:lnTo>
                <a:lnTo>
                  <a:pt x="1782825" y="737340"/>
                </a:lnTo>
                <a:lnTo>
                  <a:pt x="1730937" y="750824"/>
                </a:lnTo>
                <a:lnTo>
                  <a:pt x="1676924" y="763227"/>
                </a:lnTo>
                <a:lnTo>
                  <a:pt x="1620903" y="774507"/>
                </a:lnTo>
                <a:lnTo>
                  <a:pt x="1562990" y="784620"/>
                </a:lnTo>
                <a:lnTo>
                  <a:pt x="1503302" y="793524"/>
                </a:lnTo>
                <a:lnTo>
                  <a:pt x="1441955" y="801175"/>
                </a:lnTo>
                <a:lnTo>
                  <a:pt x="1379067" y="807532"/>
                </a:lnTo>
                <a:lnTo>
                  <a:pt x="1314753" y="812550"/>
                </a:lnTo>
                <a:lnTo>
                  <a:pt x="1249130" y="816188"/>
                </a:lnTo>
                <a:lnTo>
                  <a:pt x="1182315" y="818402"/>
                </a:lnTo>
                <a:lnTo>
                  <a:pt x="1114425" y="819150"/>
                </a:lnTo>
                <a:lnTo>
                  <a:pt x="1046537" y="818402"/>
                </a:lnTo>
                <a:lnTo>
                  <a:pt x="979725" y="816188"/>
                </a:lnTo>
                <a:lnTo>
                  <a:pt x="914105" y="812550"/>
                </a:lnTo>
                <a:lnTo>
                  <a:pt x="849794" y="807532"/>
                </a:lnTo>
                <a:lnTo>
                  <a:pt x="786909" y="801175"/>
                </a:lnTo>
                <a:lnTo>
                  <a:pt x="725565" y="793524"/>
                </a:lnTo>
                <a:lnTo>
                  <a:pt x="665881" y="784620"/>
                </a:lnTo>
                <a:lnTo>
                  <a:pt x="607971" y="774507"/>
                </a:lnTo>
                <a:lnTo>
                  <a:pt x="551953" y="763227"/>
                </a:lnTo>
                <a:lnTo>
                  <a:pt x="497943" y="750824"/>
                </a:lnTo>
                <a:lnTo>
                  <a:pt x="446058" y="737340"/>
                </a:lnTo>
                <a:lnTo>
                  <a:pt x="396415" y="722818"/>
                </a:lnTo>
                <a:lnTo>
                  <a:pt x="349129" y="707300"/>
                </a:lnTo>
                <a:lnTo>
                  <a:pt x="304318" y="690831"/>
                </a:lnTo>
                <a:lnTo>
                  <a:pt x="262098" y="673452"/>
                </a:lnTo>
                <a:lnTo>
                  <a:pt x="222586" y="655207"/>
                </a:lnTo>
                <a:lnTo>
                  <a:pt x="185898" y="636138"/>
                </a:lnTo>
                <a:lnTo>
                  <a:pt x="152151" y="616288"/>
                </a:lnTo>
                <a:lnTo>
                  <a:pt x="93946" y="574418"/>
                </a:lnTo>
                <a:lnTo>
                  <a:pt x="48903" y="529938"/>
                </a:lnTo>
                <a:lnTo>
                  <a:pt x="17954" y="483192"/>
                </a:lnTo>
                <a:lnTo>
                  <a:pt x="2033" y="434523"/>
                </a:lnTo>
                <a:lnTo>
                  <a:pt x="0" y="409575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5723764F-6944-9F6C-2016-45A4695E46B7}"/>
              </a:ext>
            </a:extLst>
          </p:cNvPr>
          <p:cNvSpPr txBox="1"/>
          <p:nvPr/>
        </p:nvSpPr>
        <p:spPr>
          <a:xfrm>
            <a:off x="506730" y="462216"/>
            <a:ext cx="141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Heisen-De-</a:t>
            </a:r>
            <a:r>
              <a:rPr sz="1800" spc="-25" dirty="0">
                <a:latin typeface="Calibri"/>
                <a:cs typeface="Calibri"/>
              </a:rPr>
              <a:t>Bug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D18A5C9-AC43-35BE-AECA-5523549E8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63" y="1206500"/>
            <a:ext cx="5275232" cy="51482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987AA44-D285-C872-7C76-1A02CFAEA72C}"/>
              </a:ext>
            </a:extLst>
          </p:cNvPr>
          <p:cNvSpPr txBox="1"/>
          <p:nvPr/>
        </p:nvSpPr>
        <p:spPr>
          <a:xfrm>
            <a:off x="151963" y="1236484"/>
            <a:ext cx="5279322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solidFill>
                  <a:schemeClr val="accent1"/>
                </a:solidFill>
                <a:latin typeface="Book Antiqua"/>
                <a:ea typeface="Calibri"/>
                <a:cs typeface="Calibri"/>
              </a:rPr>
              <a:t>🔗 Key References &amp; Compliance: </a:t>
            </a:r>
            <a:endParaRPr lang="en-US" dirty="0">
              <a:solidFill>
                <a:schemeClr val="accent1"/>
              </a:solidFill>
              <a:latin typeface="Book Antiqua"/>
              <a:cs typeface="Calibri"/>
            </a:endParaRPr>
          </a:p>
          <a:p>
            <a:pPr algn="just"/>
            <a:r>
              <a:rPr lang="en-US" sz="1400" b="1" dirty="0">
                <a:latin typeface="Book Antiqua"/>
                <a:ea typeface="Calibri"/>
                <a:cs typeface="Calibri"/>
              </a:rPr>
              <a:t>Child Data Privacy Compliance:</a:t>
            </a:r>
            <a:endParaRPr lang="en-US" sz="1400" dirty="0">
              <a:solidFill>
                <a:srgbClr val="64748B"/>
              </a:solidFill>
              <a:latin typeface="Book Antiqua"/>
              <a:cs typeface="Poppins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dirty="0">
                <a:solidFill>
                  <a:srgbClr val="2563EB"/>
                </a:solidFill>
                <a:latin typeface="Book Antiqua"/>
                <a:ea typeface="Calibri"/>
                <a:cs typeface="Poppins"/>
                <a:hlinkClick r:id="rId5"/>
              </a:rPr>
              <a:t>DPDP Rules 2025 &amp; DPDP Act 2023 Guidelines</a:t>
            </a:r>
            <a:r>
              <a:rPr lang="en-US" sz="1400" dirty="0">
                <a:solidFill>
                  <a:srgbClr val="334155"/>
                </a:solidFill>
                <a:latin typeface="Book Antiqua"/>
                <a:ea typeface="Calibri"/>
                <a:cs typeface="Poppins"/>
              </a:rPr>
              <a:t> </a:t>
            </a:r>
            <a:r>
              <a:rPr lang="en-US" sz="1400" dirty="0">
                <a:solidFill>
                  <a:srgbClr val="64748B"/>
                </a:solidFill>
                <a:latin typeface="Book Antiqua"/>
                <a:ea typeface="Calibri"/>
                <a:cs typeface="Poppins"/>
              </a:rPr>
              <a:t>(Parental consent &amp; zero-cloud retention).</a:t>
            </a:r>
            <a:endParaRPr lang="en-US" sz="1400" dirty="0">
              <a:solidFill>
                <a:srgbClr val="64748B"/>
              </a:solidFill>
              <a:latin typeface="Book Antiqua"/>
              <a:cs typeface="Poppins"/>
            </a:endParaRPr>
          </a:p>
          <a:p>
            <a:pPr marL="285750" indent="-285750" algn="just">
              <a:buFont typeface="Arial"/>
              <a:buChar char="•"/>
            </a:pPr>
            <a:endParaRPr lang="en-US" sz="1400" dirty="0">
              <a:latin typeface="Book Antiqua"/>
              <a:ea typeface="Calibri"/>
              <a:cs typeface="Calibri"/>
            </a:endParaRPr>
          </a:p>
          <a:p>
            <a:pPr algn="just"/>
            <a:r>
              <a:rPr lang="en-US" sz="1400" b="1" dirty="0">
                <a:latin typeface="Book Antiqua"/>
                <a:ea typeface="Calibri"/>
                <a:cs typeface="Calibri"/>
              </a:rPr>
              <a:t>Toy Safety &amp; Manufacturing Standards:</a:t>
            </a:r>
            <a:r>
              <a:rPr lang="en-US" sz="1400" dirty="0">
                <a:latin typeface="Book Antiqua"/>
                <a:ea typeface="Calibri"/>
                <a:cs typeface="Calibri"/>
              </a:rPr>
              <a:t> </a:t>
            </a:r>
            <a:endParaRPr lang="en-US" sz="1400" dirty="0">
              <a:latin typeface="Book Antiqua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400" dirty="0">
                <a:solidFill>
                  <a:srgbClr val="2563EB"/>
                </a:solidFill>
                <a:latin typeface="Book Antiqua"/>
                <a:ea typeface="Calibri"/>
                <a:cs typeface="Poppins"/>
              </a:rPr>
              <a:t> </a:t>
            </a:r>
            <a:r>
              <a:rPr lang="en-US" sz="1400" dirty="0">
                <a:solidFill>
                  <a:srgbClr val="2563EB"/>
                </a:solidFill>
                <a:latin typeface="Book Antiqua"/>
                <a:ea typeface="Calibri"/>
                <a:cs typeface="Poppins"/>
                <a:hlinkClick r:id="rId6"/>
              </a:rPr>
              <a:t>BIS Product License Compliance</a:t>
            </a:r>
            <a:r>
              <a:rPr lang="en-US" sz="1400" dirty="0">
                <a:solidFill>
                  <a:srgbClr val="334155"/>
                </a:solidFill>
                <a:latin typeface="Book Antiqua"/>
                <a:ea typeface="Calibri"/>
                <a:cs typeface="Poppins"/>
                <a:hlinkClick r:id="rId6"/>
              </a:rPr>
              <a:t> &amp; </a:t>
            </a:r>
            <a:r>
              <a:rPr lang="en-US" sz="1400" dirty="0">
                <a:solidFill>
                  <a:srgbClr val="2563EB"/>
                </a:solidFill>
                <a:latin typeface="Book Antiqua"/>
                <a:ea typeface="Calibri"/>
                <a:cs typeface="Poppins"/>
                <a:hlinkClick r:id="rId6"/>
              </a:rPr>
              <a:t>ISO 8124-1 Impact Testing</a:t>
            </a:r>
            <a:r>
              <a:rPr lang="en-US" sz="1400" dirty="0">
                <a:solidFill>
                  <a:srgbClr val="334155"/>
                </a:solidFill>
                <a:latin typeface="Book Antiqua"/>
                <a:ea typeface="Calibri"/>
                <a:cs typeface="Poppins"/>
              </a:rPr>
              <a:t>.</a:t>
            </a:r>
            <a:endParaRPr lang="en-US" sz="1400" dirty="0">
              <a:latin typeface="Book Antiqua"/>
              <a:cs typeface="Calibri"/>
            </a:endParaRPr>
          </a:p>
          <a:p>
            <a:pPr algn="just"/>
            <a:endParaRPr lang="en-US" sz="1400" b="1" dirty="0">
              <a:latin typeface="Book Antiqua"/>
              <a:ea typeface="Calibri"/>
              <a:cs typeface="Calibri"/>
            </a:endParaRPr>
          </a:p>
          <a:p>
            <a:pPr algn="just"/>
            <a:r>
              <a:rPr lang="en-US" sz="1400" b="1" dirty="0">
                <a:latin typeface="Book Antiqua"/>
                <a:ea typeface="Calibri"/>
                <a:cs typeface="Calibri"/>
              </a:rPr>
              <a:t>Scaled BOM Costing &amp; Tooling:</a:t>
            </a:r>
            <a:r>
              <a:rPr lang="en-US" sz="1400" dirty="0">
                <a:latin typeface="Book Antiqua"/>
                <a:ea typeface="Calibri"/>
                <a:cs typeface="Calibri"/>
              </a:rPr>
              <a:t> 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400" dirty="0">
                <a:solidFill>
                  <a:srgbClr val="2563EB"/>
                </a:solidFill>
                <a:latin typeface="Book Antiqua"/>
                <a:ea typeface="Calibri"/>
                <a:cs typeface="Poppins"/>
              </a:rPr>
              <a:t>Manufyn Injection Molding &amp; Tooling Pricing I</a:t>
            </a:r>
          </a:p>
          <a:p>
            <a:pPr algn="just"/>
            <a:endParaRPr lang="en-US" sz="1400" dirty="0">
              <a:solidFill>
                <a:srgbClr val="2563EB"/>
              </a:solidFill>
              <a:latin typeface="Book Antiqua"/>
              <a:ea typeface="Calibri"/>
              <a:cs typeface="Poppins"/>
            </a:endParaRPr>
          </a:p>
          <a:p>
            <a:pPr algn="just"/>
            <a:r>
              <a:rPr lang="en-US" sz="1400" b="1" dirty="0">
                <a:latin typeface="Book Antiqua"/>
                <a:cs typeface="Calibri"/>
              </a:rPr>
              <a:t>For further references and prototype:</a:t>
            </a:r>
          </a:p>
          <a:p>
            <a:pPr algn="just"/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Book Antiqua"/>
                <a:cs typeface="Calibri"/>
              </a:rPr>
              <a:t>scan the QR code below or </a:t>
            </a:r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Book Antiqua"/>
                <a:cs typeface="Calibri"/>
                <a:hlinkClick r:id="rId7"/>
              </a:rPr>
              <a:t>click the link</a:t>
            </a:r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Book Antiqua"/>
                <a:cs typeface="Calibri"/>
              </a:rPr>
              <a:t>.</a:t>
            </a:r>
          </a:p>
          <a:p>
            <a:pPr algn="l"/>
            <a:endParaRPr lang="en-US" dirty="0">
              <a:cs typeface="Calibri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F972572-D8A3-DA5C-CB9B-42DC5085A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123" y="1206500"/>
            <a:ext cx="6108352" cy="31908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5" name="TextBox 21">
            <a:extLst>
              <a:ext uri="{FF2B5EF4-FFF2-40B4-BE49-F238E27FC236}">
                <a16:creationId xmlns:a16="http://schemas.microsoft.com/office/drawing/2014/main" id="{40B1D1B6-96B7-D05D-F307-BCDA2751A42F}"/>
              </a:ext>
            </a:extLst>
          </p:cNvPr>
          <p:cNvSpPr txBox="1"/>
          <p:nvPr/>
        </p:nvSpPr>
        <p:spPr>
          <a:xfrm>
            <a:off x="6102548" y="1283415"/>
            <a:ext cx="561305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 i="0" u="none">
                <a:solidFill>
                  <a:schemeClr val="accent1"/>
                </a:solidFill>
                <a:latin typeface="Book Antiqua"/>
              </a:rPr>
              <a:t>Comparison with Existing Systems</a:t>
            </a:r>
            <a:r>
              <a:rPr lang="en-US" sz="1600" b="1">
                <a:solidFill>
                  <a:schemeClr val="accent1"/>
                </a:solidFill>
                <a:latin typeface="Book Antiqua"/>
              </a:rPr>
              <a:t>:</a:t>
            </a:r>
            <a:endParaRPr lang="en-US" sz="1600" b="1" i="0" u="none">
              <a:solidFill>
                <a:schemeClr val="accent1"/>
              </a:solidFill>
              <a:latin typeface="Book Antiqua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953DB9E-0BB5-DEC7-660D-200F30B0D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1718" y="1271111"/>
            <a:ext cx="224790" cy="250507"/>
          </a:xfrm>
          <a:prstGeom prst="rect">
            <a:avLst/>
          </a:prstGeom>
        </p:spPr>
      </p:pic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3624429E-5E25-D1B6-D6C1-5558C2675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092118"/>
              </p:ext>
            </p:extLst>
          </p:nvPr>
        </p:nvGraphicFramePr>
        <p:xfrm>
          <a:off x="5923280" y="1598295"/>
          <a:ext cx="5791200" cy="26860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4475">
                  <a:extLst>
                    <a:ext uri="{9D8B030D-6E8A-4147-A177-3AD203B41FA5}">
                      <a16:colId xmlns:a16="http://schemas.microsoft.com/office/drawing/2014/main" val="10423547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084688589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1943892765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83703692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1291872767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1" i="0" u="none" strike="noStrike">
                          <a:solidFill>
                            <a:srgbClr val="1E293B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Feature / Metric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1" i="0" u="none" strike="noStrike">
                          <a:solidFill>
                            <a:srgbClr val="1E293B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Our Smart Companion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1" i="0" u="none" strike="noStrike">
                          <a:solidFill>
                            <a:srgbClr val="1E293B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Miko 3 / Robots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1E293B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Toniebox</a:t>
                      </a:r>
                      <a:r>
                        <a:rPr lang="en-US" sz="1200" b="1" i="0" u="none" strike="noStrike" dirty="0">
                          <a:solidFill>
                            <a:srgbClr val="1E293B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Player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1" i="0" u="none" strike="noStrike">
                          <a:solidFill>
                            <a:srgbClr val="1E293B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Tablet Apps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299507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Screen-Free Interface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✔ Yes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✖ Screen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✔ Yes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✖ Screen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42818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28 State Indian Cultural Lore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✔ Full (RAG)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Basic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✖ None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Fragmented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88956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Regional Dialects &amp; Dance Beats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✔ Yes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✖ English Only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✖ English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Limited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139588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Child-Safe Hardware BOM (&lt;₹1.5k)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✔ ₹1,290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✖ ₹10,000+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✖ ₹8,000+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✔ Software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139278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DPDP Act 2025 Privacy Compliant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✔ Ephemeral Edge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Cloud Logged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✔ Offline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334155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✖ Ad-tracked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494" marR="63494" marT="25394" marB="2539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310604"/>
                  </a:ext>
                </a:extLst>
              </a:tr>
            </a:tbl>
          </a:graphicData>
        </a:graphic>
      </p:graphicFrame>
      <p:sp>
        <p:nvSpPr>
          <p:cNvPr id="2" name="object 18">
            <a:extLst>
              <a:ext uri="{FF2B5EF4-FFF2-40B4-BE49-F238E27FC236}">
                <a16:creationId xmlns:a16="http://schemas.microsoft.com/office/drawing/2014/main" id="{47337F93-8036-A4C4-174C-5B0DA11C068D}"/>
              </a:ext>
            </a:extLst>
          </p:cNvPr>
          <p:cNvSpPr/>
          <p:nvPr/>
        </p:nvSpPr>
        <p:spPr>
          <a:xfrm>
            <a:off x="109537" y="157226"/>
            <a:ext cx="2229485" cy="819150"/>
          </a:xfrm>
          <a:custGeom>
            <a:avLst/>
            <a:gdLst/>
            <a:ahLst/>
            <a:cxnLst/>
            <a:rect l="l" t="t" r="r" b="b"/>
            <a:pathLst>
              <a:path w="2229485" h="819150">
                <a:moveTo>
                  <a:pt x="0" y="409575"/>
                </a:moveTo>
                <a:lnTo>
                  <a:pt x="8057" y="360048"/>
                </a:lnTo>
                <a:lnTo>
                  <a:pt x="31608" y="312281"/>
                </a:lnTo>
                <a:lnTo>
                  <a:pt x="69721" y="266615"/>
                </a:lnTo>
                <a:lnTo>
                  <a:pt x="121462" y="223393"/>
                </a:lnTo>
                <a:lnTo>
                  <a:pt x="185898" y="182955"/>
                </a:lnTo>
                <a:lnTo>
                  <a:pt x="222586" y="163888"/>
                </a:lnTo>
                <a:lnTo>
                  <a:pt x="262098" y="145644"/>
                </a:lnTo>
                <a:lnTo>
                  <a:pt x="304318" y="128269"/>
                </a:lnTo>
                <a:lnTo>
                  <a:pt x="349129" y="111803"/>
                </a:lnTo>
                <a:lnTo>
                  <a:pt x="396415" y="96290"/>
                </a:lnTo>
                <a:lnTo>
                  <a:pt x="446058" y="81772"/>
                </a:lnTo>
                <a:lnTo>
                  <a:pt x="497943" y="68292"/>
                </a:lnTo>
                <a:lnTo>
                  <a:pt x="551953" y="55894"/>
                </a:lnTo>
                <a:lnTo>
                  <a:pt x="607971" y="44619"/>
                </a:lnTo>
                <a:lnTo>
                  <a:pt x="665881" y="34510"/>
                </a:lnTo>
                <a:lnTo>
                  <a:pt x="725565" y="25611"/>
                </a:lnTo>
                <a:lnTo>
                  <a:pt x="786909" y="17963"/>
                </a:lnTo>
                <a:lnTo>
                  <a:pt x="849794" y="11610"/>
                </a:lnTo>
                <a:lnTo>
                  <a:pt x="914105" y="6595"/>
                </a:lnTo>
                <a:lnTo>
                  <a:pt x="979725" y="2959"/>
                </a:lnTo>
                <a:lnTo>
                  <a:pt x="1046537" y="747"/>
                </a:lnTo>
                <a:lnTo>
                  <a:pt x="1114425" y="0"/>
                </a:lnTo>
                <a:lnTo>
                  <a:pt x="1182315" y="747"/>
                </a:lnTo>
                <a:lnTo>
                  <a:pt x="1249130" y="2959"/>
                </a:lnTo>
                <a:lnTo>
                  <a:pt x="1314753" y="6595"/>
                </a:lnTo>
                <a:lnTo>
                  <a:pt x="1379067" y="11610"/>
                </a:lnTo>
                <a:lnTo>
                  <a:pt x="1441955" y="17963"/>
                </a:lnTo>
                <a:lnTo>
                  <a:pt x="1503302" y="25611"/>
                </a:lnTo>
                <a:lnTo>
                  <a:pt x="1562990" y="34510"/>
                </a:lnTo>
                <a:lnTo>
                  <a:pt x="1620903" y="44619"/>
                </a:lnTo>
                <a:lnTo>
                  <a:pt x="1676924" y="55894"/>
                </a:lnTo>
                <a:lnTo>
                  <a:pt x="1730937" y="68292"/>
                </a:lnTo>
                <a:lnTo>
                  <a:pt x="1782825" y="81772"/>
                </a:lnTo>
                <a:lnTo>
                  <a:pt x="1832471" y="96290"/>
                </a:lnTo>
                <a:lnTo>
                  <a:pt x="1879760" y="111803"/>
                </a:lnTo>
                <a:lnTo>
                  <a:pt x="1924574" y="128269"/>
                </a:lnTo>
                <a:lnTo>
                  <a:pt x="1966796" y="145644"/>
                </a:lnTo>
                <a:lnTo>
                  <a:pt x="2006311" y="163888"/>
                </a:lnTo>
                <a:lnTo>
                  <a:pt x="2043001" y="182955"/>
                </a:lnTo>
                <a:lnTo>
                  <a:pt x="2076751" y="202804"/>
                </a:lnTo>
                <a:lnTo>
                  <a:pt x="2134960" y="244677"/>
                </a:lnTo>
                <a:lnTo>
                  <a:pt x="2180006" y="289164"/>
                </a:lnTo>
                <a:lnTo>
                  <a:pt x="2210957" y="335923"/>
                </a:lnTo>
                <a:lnTo>
                  <a:pt x="2226879" y="384613"/>
                </a:lnTo>
                <a:lnTo>
                  <a:pt x="2228913" y="409575"/>
                </a:lnTo>
                <a:lnTo>
                  <a:pt x="2226879" y="434523"/>
                </a:lnTo>
                <a:lnTo>
                  <a:pt x="2210957" y="483192"/>
                </a:lnTo>
                <a:lnTo>
                  <a:pt x="2180006" y="529938"/>
                </a:lnTo>
                <a:lnTo>
                  <a:pt x="2134960" y="574418"/>
                </a:lnTo>
                <a:lnTo>
                  <a:pt x="2076751" y="616288"/>
                </a:lnTo>
                <a:lnTo>
                  <a:pt x="2043001" y="636138"/>
                </a:lnTo>
                <a:lnTo>
                  <a:pt x="2006311" y="655207"/>
                </a:lnTo>
                <a:lnTo>
                  <a:pt x="1966796" y="673452"/>
                </a:lnTo>
                <a:lnTo>
                  <a:pt x="1924574" y="690831"/>
                </a:lnTo>
                <a:lnTo>
                  <a:pt x="1879760" y="707300"/>
                </a:lnTo>
                <a:lnTo>
                  <a:pt x="1832471" y="722818"/>
                </a:lnTo>
                <a:lnTo>
                  <a:pt x="1782825" y="737340"/>
                </a:lnTo>
                <a:lnTo>
                  <a:pt x="1730937" y="750824"/>
                </a:lnTo>
                <a:lnTo>
                  <a:pt x="1676924" y="763227"/>
                </a:lnTo>
                <a:lnTo>
                  <a:pt x="1620903" y="774507"/>
                </a:lnTo>
                <a:lnTo>
                  <a:pt x="1562990" y="784620"/>
                </a:lnTo>
                <a:lnTo>
                  <a:pt x="1503302" y="793524"/>
                </a:lnTo>
                <a:lnTo>
                  <a:pt x="1441955" y="801175"/>
                </a:lnTo>
                <a:lnTo>
                  <a:pt x="1379067" y="807532"/>
                </a:lnTo>
                <a:lnTo>
                  <a:pt x="1314753" y="812550"/>
                </a:lnTo>
                <a:lnTo>
                  <a:pt x="1249130" y="816188"/>
                </a:lnTo>
                <a:lnTo>
                  <a:pt x="1182315" y="818402"/>
                </a:lnTo>
                <a:lnTo>
                  <a:pt x="1114425" y="819150"/>
                </a:lnTo>
                <a:lnTo>
                  <a:pt x="1046537" y="818402"/>
                </a:lnTo>
                <a:lnTo>
                  <a:pt x="979725" y="816188"/>
                </a:lnTo>
                <a:lnTo>
                  <a:pt x="914105" y="812550"/>
                </a:lnTo>
                <a:lnTo>
                  <a:pt x="849794" y="807532"/>
                </a:lnTo>
                <a:lnTo>
                  <a:pt x="786909" y="801175"/>
                </a:lnTo>
                <a:lnTo>
                  <a:pt x="725565" y="793524"/>
                </a:lnTo>
                <a:lnTo>
                  <a:pt x="665881" y="784620"/>
                </a:lnTo>
                <a:lnTo>
                  <a:pt x="607971" y="774507"/>
                </a:lnTo>
                <a:lnTo>
                  <a:pt x="551953" y="763227"/>
                </a:lnTo>
                <a:lnTo>
                  <a:pt x="497943" y="750824"/>
                </a:lnTo>
                <a:lnTo>
                  <a:pt x="446058" y="737340"/>
                </a:lnTo>
                <a:lnTo>
                  <a:pt x="396415" y="722818"/>
                </a:lnTo>
                <a:lnTo>
                  <a:pt x="349129" y="707300"/>
                </a:lnTo>
                <a:lnTo>
                  <a:pt x="304318" y="690831"/>
                </a:lnTo>
                <a:lnTo>
                  <a:pt x="262098" y="673452"/>
                </a:lnTo>
                <a:lnTo>
                  <a:pt x="222586" y="655207"/>
                </a:lnTo>
                <a:lnTo>
                  <a:pt x="185898" y="636138"/>
                </a:lnTo>
                <a:lnTo>
                  <a:pt x="152151" y="616288"/>
                </a:lnTo>
                <a:lnTo>
                  <a:pt x="93946" y="574418"/>
                </a:lnTo>
                <a:lnTo>
                  <a:pt x="48903" y="529938"/>
                </a:lnTo>
                <a:lnTo>
                  <a:pt x="17954" y="483192"/>
                </a:lnTo>
                <a:lnTo>
                  <a:pt x="2033" y="434523"/>
                </a:lnTo>
                <a:lnTo>
                  <a:pt x="0" y="409575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" name="object 19">
            <a:extLst>
              <a:ext uri="{FF2B5EF4-FFF2-40B4-BE49-F238E27FC236}">
                <a16:creationId xmlns:a16="http://schemas.microsoft.com/office/drawing/2014/main" id="{E89F7DF5-FE3F-1123-18AE-5781473F1EE8}"/>
              </a:ext>
            </a:extLst>
          </p:cNvPr>
          <p:cNvSpPr txBox="1"/>
          <p:nvPr/>
        </p:nvSpPr>
        <p:spPr>
          <a:xfrm>
            <a:off x="516890" y="391223"/>
            <a:ext cx="141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Heisen-De-</a:t>
            </a:r>
            <a:r>
              <a:rPr sz="1800" spc="-25" dirty="0">
                <a:latin typeface="Calibri"/>
                <a:cs typeface="Calibri"/>
              </a:rPr>
              <a:t>Bug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5022C-12CC-2473-3BD4-B2A379E2FA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7795" y="4346132"/>
            <a:ext cx="2378798" cy="200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Office PowerPoint</Application>
  <PresentationFormat>Widescreen</PresentationFormat>
  <Paragraphs>165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ＭＳ Ｐゴシック</vt:lpstr>
      <vt:lpstr>ＭＳ Ｐゴシック</vt:lpstr>
      <vt:lpstr>Arial</vt:lpstr>
      <vt:lpstr>Arial MT</vt:lpstr>
      <vt:lpstr>Arial,Sans-Serif</vt:lpstr>
      <vt:lpstr>Bodoni MT Black</vt:lpstr>
      <vt:lpstr>Book Antiqua</vt:lpstr>
      <vt:lpstr>Calibri</vt:lpstr>
      <vt:lpstr>Garamond</vt:lpstr>
      <vt:lpstr>Palatino Linotype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Amit Yadav</cp:lastModifiedBy>
  <cp:revision>584</cp:revision>
  <dcterms:created xsi:type="dcterms:W3CDTF">2013-12-12T18:46:50Z</dcterms:created>
  <dcterms:modified xsi:type="dcterms:W3CDTF">2026-09-05T03:37:00Z</dcterms:modified>
  <cp:category/>
</cp:coreProperties>
</file>